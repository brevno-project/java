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7" r:id="rId4"/>
    <p:sldId id="258" r:id="rId5"/>
    <p:sldId id="259" r:id="rId6"/>
    <p:sldId id="260" r:id="rId7"/>
    <p:sldId id="261" r:id="rId8"/>
    <p:sldId id="278" r:id="rId9"/>
    <p:sldId id="262" r:id="rId10"/>
    <p:sldId id="264" r:id="rId11"/>
    <p:sldId id="263" r:id="rId12"/>
    <p:sldId id="266" r:id="rId13"/>
    <p:sldId id="267" r:id="rId14"/>
    <p:sldId id="275" r:id="rId15"/>
    <p:sldId id="268" r:id="rId16"/>
    <p:sldId id="269" r:id="rId17"/>
    <p:sldId id="270" r:id="rId18"/>
    <p:sldId id="271" r:id="rId19"/>
    <p:sldId id="276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EDEFE-A61A-9B76-2D75-4C3A8C21C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492544-C177-6740-E6A8-A28202D55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32A515-94AE-1955-19D0-04752D39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B0E2C9-A106-6391-1F0A-788A22E0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ED8435-F7BC-A18D-23F9-3DE01A13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36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DC26D-F4B9-B06A-EBE2-0F75E88B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6EA722-C5E5-0830-8C23-EE450BDB0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6D426D-3440-3EBA-7110-461E21AE9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C0A6B0-3C43-C466-03BA-61756E6F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565163-0CB1-B855-99C2-DA227B5B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9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A4111-E8A4-C377-CB9E-02288057C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7C282D-2B11-E8E3-0F2F-65FFA2BCF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7FDEC0-C590-7C69-5F41-B6077F19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3551-B334-FC9C-5C97-925F673F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9A7CA2-4DFE-5FA3-FE11-7F54F103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2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B9BDE-843A-14DA-91A1-69B8E3C61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79F3F7-92D7-0526-7AF7-434A4D097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AC5139-9B64-D456-7E92-8A0AE6B86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861954-521E-4A89-13B5-4AFF56AC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688C9-1C0E-F8FC-D853-866B2E72E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F2D0CF-2C90-53AB-5349-70310B79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70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6E7C5-ADA3-4770-194A-66418B43A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7F3815-29D6-5414-E4FF-C0BB3B2A9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C79423-967E-3CB6-6E7F-A2D3EC169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2D5280-2F22-F3ED-C146-BCF525A82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85230B-9B17-F90F-A2F0-E4D381A8C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DAA03F-2EF8-BA79-8DCB-6EED90CB4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D5CB2F-9910-BFB4-FF13-DC72F5F0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19AE11-65AE-7153-D0F1-817B0681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78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BA9F6-CF59-D72F-9AE7-DDE9A1C2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977350-0B2F-4C47-E1FE-B1880AB4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0BF604-64E1-CE9E-879D-AF32A857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E8DAAE-06DD-290F-9DCD-A35B311C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4B0970-A117-7527-74E9-1DA18725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4BDBF8-5CF1-C1A7-B024-399EF0198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693EF-7920-A290-D9AF-D754D2F1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8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D7D6E-3136-FA1C-B0A1-666CFD0D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897D27-1BC0-288C-B8DE-B7909C2F9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A3BEC6-653D-5E5B-4AF4-0D45F0A9A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B7AC68-C7B9-3736-D3CF-6997AAAA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B1C94E-31F7-52B7-D580-8C3A8A1A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60B88-B8CB-8E29-9BC3-B2FF6C78A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8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E42DA-A1B5-4AB2-2A0E-8063D3CE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C4EC7F-FF4F-F410-F4DF-C1F235AAFB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DD4D8C-1060-7B67-A25E-99A546F0C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28159D-470A-C475-FB0E-438E2027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C68836-3249-1447-E330-DD3BC2BCF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0E912D-18C8-F795-1208-E70123B0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89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17491-DFD9-BC95-7BE6-728A1674D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8A474F-13D0-A654-84FB-B1FE403AD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DBF794-CE55-3E0B-924E-CC301687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8E5D67-DF0B-A7F4-3AA8-C2614FA2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D9B28D-2C4E-20F5-81F1-0D889C16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64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FA1815-8272-9226-AA6D-260DD11E2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C74864-B839-1782-2311-FA7E34A9B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54BE23-223A-F980-25F2-5616AE3E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881B8-7179-3B17-A4B4-F27734CC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33A27C-E07F-F884-91C4-9DA276BA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8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BAACCD-519E-74C9-4962-5248743A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C9AC4E-5FAD-522D-0758-4DB7912C6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C67A99-F6FE-3966-758B-2D0EDEF11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3B08C-F6F8-458D-ACEA-0E58D4FBAF3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62A88-0217-53DB-92BF-DC3C237DE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BB96D-771D-220D-2A9D-DD80F87BC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4EFC3-6F67-4F11-AB4F-C60082F2E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96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revno-project/Jav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12EDC5-66C9-9530-87A1-528EDBDFB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dirty="0"/>
              <a:t>HW </a:t>
            </a:r>
            <a:r>
              <a:rPr lang="ru-RU" dirty="0"/>
              <a:t>4</a:t>
            </a:r>
            <a:r>
              <a:rPr lang="en-US" dirty="0"/>
              <a:t>: OOP version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341295-3355-B458-AB8C-440F2E56B7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/>
              <a:t>Artem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095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8EB7D22-92D4-31B5-9673-CF55921F61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5895" y="1659285"/>
            <a:ext cx="974818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</a:t>
            </a:r>
            <a:r>
              <a:rPr lang="en-US" altLang="ru-RU" sz="3200" b="1" dirty="0">
                <a:latin typeface="Arial" panose="020B0604020202020204" pitchFamily="34" charset="0"/>
              </a:rPr>
              <a:t>: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array-based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class-based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(OOP).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ArtemDude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classes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move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show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methods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collision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50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2C629B-6DE1-80A0-1AD2-65848C80BA6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Sprint 1: </a:t>
            </a:r>
            <a:endParaRPr 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47CB03D-6283-A1C0-5CD9-D5577721B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37733"/>
          </a:xfrm>
        </p:spPr>
        <p:txBody>
          <a:bodyPr>
            <a:normAutofit/>
          </a:bodyPr>
          <a:lstStyle/>
          <a:p>
            <a:r>
              <a:rPr lang="en-US" sz="2400" dirty="0"/>
              <a:t>Sprint 1 – Display characters</a:t>
            </a:r>
          </a:p>
          <a:p>
            <a:r>
              <a:rPr lang="en-US" sz="2400" dirty="0"/>
              <a:t>Display the Pet and </a:t>
            </a:r>
            <a:r>
              <a:rPr lang="en-US" sz="2400" dirty="0" err="1"/>
              <a:t>ArtemDude</a:t>
            </a:r>
            <a:r>
              <a:rPr lang="en-US" sz="2400" dirty="0"/>
              <a:t> characters.</a:t>
            </a:r>
            <a:br>
              <a:rPr lang="en-US" sz="2400" dirty="0"/>
            </a:br>
            <a:r>
              <a:rPr lang="en-US" sz="2400" dirty="0"/>
              <a:t>Each character has position (x, y) and size (d).</a:t>
            </a:r>
            <a:br>
              <a:rPr lang="en-US" sz="2400" dirty="0"/>
            </a:br>
            <a:r>
              <a:rPr lang="en-US" sz="2400" dirty="0"/>
              <a:t>Use simple functions pet() and artem() to draw them.</a:t>
            </a:r>
            <a:br>
              <a:rPr lang="en-US" sz="2400" dirty="0"/>
            </a:br>
            <a:r>
              <a:rPr lang="en-US" sz="2400" dirty="0"/>
              <a:t>No movement yet – only static display.</a:t>
            </a:r>
            <a:br>
              <a:rPr lang="en-US" sz="2400" dirty="0"/>
            </a:br>
            <a:r>
              <a:rPr lang="en-US" sz="2400" dirty="0"/>
              <a:t>Goal: learn how to draw two different objects.</a:t>
            </a:r>
          </a:p>
        </p:txBody>
      </p:sp>
    </p:spTree>
    <p:extLst>
      <p:ext uri="{BB962C8B-B14F-4D97-AF65-F5344CB8AC3E}">
        <p14:creationId xmlns:p14="http://schemas.microsoft.com/office/powerpoint/2010/main" val="3300891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9F4647-1D81-415C-2DEC-4D484D5FCF36}"/>
              </a:ext>
            </a:extLst>
          </p:cNvPr>
          <p:cNvSpPr txBox="1"/>
          <p:nvPr/>
        </p:nvSpPr>
        <p:spPr>
          <a:xfrm>
            <a:off x="3759695" y="195145"/>
            <a:ext cx="4158961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class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ArtemDude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{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float x, y;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float d;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ArtemDude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(float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startX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, float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startY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, float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startD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) {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x =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startX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y =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startY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d =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startD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}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void show() {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fill(255,220,180);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strokeWeight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(2);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triangle(x-15*d, y+20*d,  x+15*d, y+20*d,  x, y); // body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fill(255);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rect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(x-5*d, y+9*d, 4*d, 2*d);      // left eye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rect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(x+1*d, y+9*d, 4*d, 2*d);      // right eye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stroke(0);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line(x+1*d, y+8*d, x+5*d, y+8*d);  // eyebrow right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line(x-5*d, y+8*d, x-1*d, y+8*d);  // eyebrow left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fill(40,150,180);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circle(x-2.7*d, y+10*d, 1.4*d);    // pupil left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circle(x+3.4*d, y+10*d, 1.6*d);    // pupil right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fill(255);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ellipse(x, y+16*d, 8*d, 3*d);      // mouth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fill(240);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rect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(x-0.5*d, y+14.6*d, 1.5*d, 2*d); // tooth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}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D322F-9557-A890-34A0-8E6B285D008F}"/>
              </a:ext>
            </a:extLst>
          </p:cNvPr>
          <p:cNvSpPr txBox="1"/>
          <p:nvPr/>
        </p:nvSpPr>
        <p:spPr>
          <a:xfrm>
            <a:off x="7918656" y="195145"/>
            <a:ext cx="4111831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class Pet {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float x, y;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float d;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Pet(float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startX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, float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startY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, float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startD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) {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x =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startX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y =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startY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d =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startD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}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void show() {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fill(255,160,60);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circle(x, y, d*10);                // face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ellipse(x,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y+d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, d*5, d*4);         // muzzle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fill(0);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ellipse(x, y-0.5*d, d*2, d);       // nose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circle(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x+d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*2, y-d*2, 0.5*d);       // right eye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  circle(x-d*2, y-d*2, 0.5*d);       // left eye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}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68DBE8-5900-2889-2527-F7A39C73BA43}"/>
              </a:ext>
            </a:extLst>
          </p:cNvPr>
          <p:cNvSpPr txBox="1"/>
          <p:nvPr/>
        </p:nvSpPr>
        <p:spPr>
          <a:xfrm>
            <a:off x="209798" y="195145"/>
            <a:ext cx="3164279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Pet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pet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;</a:t>
            </a:r>
          </a:p>
          <a:p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ArtemDude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artem;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void setup() {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size(800, 600);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float mx = random(width);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float my = random(height);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float md = 10;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float cx = random(width);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float cy = random(height);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float cd = 5;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pet = new Pet(mx, my, md);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artem = new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ArtemDude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(cx, cy, cd);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background(255, 244, 189);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}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void draw() {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background(255, 244, 189);</a:t>
            </a:r>
          </a:p>
          <a:p>
            <a:endParaRPr lang="en-US" dirty="0"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pet.show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();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  </a:t>
            </a:r>
            <a:r>
              <a:rPr lang="en-US" dirty="0" err="1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artem.show</a:t>
            </a:r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();</a:t>
            </a:r>
          </a:p>
          <a:p>
            <a:r>
              <a:rPr lang="en-US" dirty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103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8AFEA2-0EEB-E224-5680-5453E2832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5460" y="965200"/>
            <a:ext cx="6721079" cy="4372239"/>
          </a:xfrm>
        </p:spPr>
      </p:pic>
    </p:spTree>
    <p:extLst>
      <p:ext uri="{BB962C8B-B14F-4D97-AF65-F5344CB8AC3E}">
        <p14:creationId xmlns:p14="http://schemas.microsoft.com/office/powerpoint/2010/main" val="1517527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587B87-A7E1-FA67-2A8D-AD72FB0D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2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3920C-38F6-CA30-108F-6C8CC2A6A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Sprint 2 – Add movement</a:t>
            </a:r>
          </a:p>
          <a:p>
            <a:r>
              <a:rPr lang="en-US" dirty="0"/>
              <a:t>Make the two characters move and bounce from walls.</a:t>
            </a:r>
            <a:br>
              <a:rPr lang="en-US" dirty="0"/>
            </a:br>
            <a:r>
              <a:rPr lang="en-US" dirty="0"/>
              <a:t>Add velocity variables (</a:t>
            </a:r>
            <a:r>
              <a:rPr lang="en-US" dirty="0" err="1"/>
              <a:t>vx</a:t>
            </a:r>
            <a:r>
              <a:rPr lang="en-US" dirty="0"/>
              <a:t>, </a:t>
            </a:r>
            <a:r>
              <a:rPr lang="en-US" dirty="0" err="1"/>
              <a:t>vy</a:t>
            </a:r>
            <a:r>
              <a:rPr lang="en-US" dirty="0"/>
              <a:t>).</a:t>
            </a:r>
            <a:br>
              <a:rPr lang="en-US" dirty="0"/>
            </a:br>
            <a:r>
              <a:rPr lang="en-US" dirty="0"/>
              <a:t>Use draw() loop to update their position.</a:t>
            </a:r>
            <a:br>
              <a:rPr lang="en-US" dirty="0"/>
            </a:br>
            <a:r>
              <a:rPr lang="en-US" dirty="0"/>
              <a:t>Add </a:t>
            </a:r>
            <a:r>
              <a:rPr lang="en-US" dirty="0" err="1"/>
              <a:t>movePet</a:t>
            </a:r>
            <a:r>
              <a:rPr lang="en-US" dirty="0"/>
              <a:t>() and </a:t>
            </a:r>
            <a:r>
              <a:rPr lang="en-US" dirty="0" err="1"/>
              <a:t>moveArtem</a:t>
            </a:r>
            <a:r>
              <a:rPr lang="en-US" dirty="0"/>
              <a:t>() functions.</a:t>
            </a:r>
            <a:br>
              <a:rPr lang="en-US" dirty="0"/>
            </a:br>
            <a:r>
              <a:rPr lang="en-US" dirty="0"/>
              <a:t>Goal: create continuous movement and reflection.</a:t>
            </a:r>
          </a:p>
        </p:txBody>
      </p:sp>
    </p:spTree>
    <p:extLst>
      <p:ext uri="{BB962C8B-B14F-4D97-AF65-F5344CB8AC3E}">
        <p14:creationId xmlns:p14="http://schemas.microsoft.com/office/powerpoint/2010/main" val="1233300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7DC9DA-7C10-C0D7-A1F3-F15240F042D8}"/>
              </a:ext>
            </a:extLst>
          </p:cNvPr>
          <p:cNvSpPr txBox="1"/>
          <p:nvPr/>
        </p:nvSpPr>
        <p:spPr>
          <a:xfrm>
            <a:off x="3961148" y="172214"/>
            <a:ext cx="3287598" cy="1671226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ArtemDude</a:t>
            </a:r>
            <a:r>
              <a:rPr lang="en-US" dirty="0"/>
              <a:t> {</a:t>
            </a:r>
          </a:p>
          <a:p>
            <a:r>
              <a:rPr lang="en-US" dirty="0"/>
              <a:t>  float x, y;</a:t>
            </a:r>
          </a:p>
          <a:p>
            <a:r>
              <a:rPr lang="en-US" dirty="0"/>
              <a:t>  float d;</a:t>
            </a:r>
          </a:p>
          <a:p>
            <a:r>
              <a:rPr lang="en-US" dirty="0"/>
              <a:t>  float </a:t>
            </a:r>
            <a:r>
              <a:rPr lang="en-US" dirty="0" err="1"/>
              <a:t>vx</a:t>
            </a:r>
            <a:r>
              <a:rPr lang="en-US" dirty="0"/>
              <a:t>, 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ArtemDude</a:t>
            </a:r>
            <a:r>
              <a:rPr lang="en-US" dirty="0"/>
              <a:t>(float </a:t>
            </a:r>
            <a:r>
              <a:rPr lang="en-US" dirty="0" err="1"/>
              <a:t>startX</a:t>
            </a:r>
            <a:r>
              <a:rPr lang="en-US" dirty="0"/>
              <a:t>, float </a:t>
            </a:r>
            <a:r>
              <a:rPr lang="en-US" dirty="0" err="1"/>
              <a:t>startY</a:t>
            </a:r>
            <a:r>
              <a:rPr lang="en-US" dirty="0"/>
              <a:t>, float </a:t>
            </a:r>
            <a:r>
              <a:rPr lang="en-US" dirty="0" err="1"/>
              <a:t>startD</a:t>
            </a:r>
            <a:r>
              <a:rPr lang="en-US" dirty="0"/>
              <a:t>, float </a:t>
            </a:r>
            <a:r>
              <a:rPr lang="en-US" dirty="0" err="1"/>
              <a:t>startVX</a:t>
            </a:r>
            <a:r>
              <a:rPr lang="en-US" dirty="0"/>
              <a:t>, float </a:t>
            </a:r>
            <a:r>
              <a:rPr lang="en-US" dirty="0" err="1"/>
              <a:t>startVY</a:t>
            </a:r>
            <a:r>
              <a:rPr lang="en-US" dirty="0"/>
              <a:t>) {</a:t>
            </a:r>
          </a:p>
          <a:p>
            <a:r>
              <a:rPr lang="en-US" dirty="0"/>
              <a:t>    x = </a:t>
            </a:r>
            <a:r>
              <a:rPr lang="en-US" dirty="0" err="1"/>
              <a:t>startX</a:t>
            </a:r>
            <a:r>
              <a:rPr lang="en-US" dirty="0"/>
              <a:t>;</a:t>
            </a:r>
          </a:p>
          <a:p>
            <a:r>
              <a:rPr lang="en-US" dirty="0"/>
              <a:t>    y = </a:t>
            </a:r>
            <a:r>
              <a:rPr lang="en-US" dirty="0" err="1"/>
              <a:t>startY</a:t>
            </a:r>
            <a:r>
              <a:rPr lang="en-US" dirty="0"/>
              <a:t>;</a:t>
            </a:r>
          </a:p>
          <a:p>
            <a:r>
              <a:rPr lang="en-US" dirty="0"/>
              <a:t>    d = </a:t>
            </a:r>
            <a:r>
              <a:rPr lang="en-US" dirty="0" err="1"/>
              <a:t>startD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vx</a:t>
            </a:r>
            <a:r>
              <a:rPr lang="en-US" dirty="0"/>
              <a:t> = </a:t>
            </a:r>
            <a:r>
              <a:rPr lang="en-US" dirty="0" err="1"/>
              <a:t>startVX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vy</a:t>
            </a:r>
            <a:r>
              <a:rPr lang="en-US" dirty="0"/>
              <a:t> = </a:t>
            </a:r>
            <a:r>
              <a:rPr lang="en-US" dirty="0" err="1"/>
              <a:t>startVY</a:t>
            </a:r>
            <a:r>
              <a:rPr lang="en-US" dirty="0"/>
              <a:t>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void move() {</a:t>
            </a:r>
          </a:p>
          <a:p>
            <a:r>
              <a:rPr lang="en-US" dirty="0"/>
              <a:t>    x += </a:t>
            </a:r>
            <a:r>
              <a:rPr lang="en-US" dirty="0" err="1"/>
              <a:t>vx</a:t>
            </a:r>
            <a:r>
              <a:rPr lang="en-US" dirty="0"/>
              <a:t>;</a:t>
            </a:r>
          </a:p>
          <a:p>
            <a:r>
              <a:rPr lang="en-US" dirty="0"/>
              <a:t>    y += 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if (x &gt; width - 50 || x &lt; 50) {</a:t>
            </a:r>
          </a:p>
          <a:p>
            <a:r>
              <a:rPr lang="en-US" dirty="0"/>
              <a:t>      </a:t>
            </a:r>
            <a:r>
              <a:rPr lang="en-US" dirty="0" err="1"/>
              <a:t>vx</a:t>
            </a:r>
            <a:r>
              <a:rPr lang="en-US" dirty="0"/>
              <a:t> = -</a:t>
            </a:r>
            <a:r>
              <a:rPr lang="en-US" dirty="0" err="1"/>
              <a:t>vx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if (y &gt; height - 50 || y &lt; 50) {</a:t>
            </a:r>
          </a:p>
          <a:p>
            <a:r>
              <a:rPr lang="en-US" dirty="0"/>
              <a:t>      </a:t>
            </a:r>
            <a:r>
              <a:rPr lang="en-US" dirty="0" err="1"/>
              <a:t>vy</a:t>
            </a:r>
            <a:r>
              <a:rPr lang="en-US" dirty="0"/>
              <a:t> = -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void show() {</a:t>
            </a:r>
          </a:p>
          <a:p>
            <a:r>
              <a:rPr lang="en-US" dirty="0"/>
              <a:t>    fill(255,220,180);</a:t>
            </a:r>
          </a:p>
          <a:p>
            <a:r>
              <a:rPr lang="en-US" dirty="0"/>
              <a:t>    </a:t>
            </a:r>
            <a:r>
              <a:rPr lang="en-US" dirty="0" err="1"/>
              <a:t>strokeWeight</a:t>
            </a:r>
            <a:r>
              <a:rPr lang="en-US" dirty="0"/>
              <a:t>(2);</a:t>
            </a:r>
          </a:p>
          <a:p>
            <a:r>
              <a:rPr lang="en-US" dirty="0"/>
              <a:t>    triangle(x-15*d, y+20*d,  x+15*d, y+20*d,  x, y); // body</a:t>
            </a:r>
          </a:p>
          <a:p>
            <a:endParaRPr lang="en-US" dirty="0"/>
          </a:p>
          <a:p>
            <a:r>
              <a:rPr lang="en-US" dirty="0"/>
              <a:t>    fill(255);</a:t>
            </a:r>
          </a:p>
          <a:p>
            <a:r>
              <a:rPr lang="en-US" dirty="0"/>
              <a:t>    </a:t>
            </a:r>
            <a:r>
              <a:rPr lang="en-US" dirty="0" err="1"/>
              <a:t>rect</a:t>
            </a:r>
            <a:r>
              <a:rPr lang="en-US" dirty="0"/>
              <a:t>(x-5*d, y+9*d, 4*d, 2*d);      // left eye</a:t>
            </a:r>
          </a:p>
          <a:p>
            <a:r>
              <a:rPr lang="en-US" dirty="0"/>
              <a:t>    </a:t>
            </a:r>
            <a:r>
              <a:rPr lang="en-US" dirty="0" err="1"/>
              <a:t>rect</a:t>
            </a:r>
            <a:r>
              <a:rPr lang="en-US" dirty="0"/>
              <a:t>(x+1*d, y+9*d, 4*d, 2*d);      // right eye</a:t>
            </a:r>
          </a:p>
          <a:p>
            <a:endParaRPr lang="en-US" dirty="0"/>
          </a:p>
          <a:p>
            <a:r>
              <a:rPr lang="en-US" dirty="0"/>
              <a:t>    stroke(0);</a:t>
            </a:r>
          </a:p>
          <a:p>
            <a:r>
              <a:rPr lang="en-US" dirty="0"/>
              <a:t>    line(x+1*d, y+8*d, x+5*d, y+8*d);  // eyebrow right</a:t>
            </a:r>
          </a:p>
          <a:p>
            <a:r>
              <a:rPr lang="en-US" dirty="0"/>
              <a:t>    line(x-5*d, y+8*d, x-1*d, y+8*d);  // eyebrow left</a:t>
            </a:r>
          </a:p>
          <a:p>
            <a:endParaRPr lang="en-US" dirty="0"/>
          </a:p>
          <a:p>
            <a:r>
              <a:rPr lang="en-US" dirty="0"/>
              <a:t>    fill(40,150,180);</a:t>
            </a:r>
          </a:p>
          <a:p>
            <a:r>
              <a:rPr lang="en-US" dirty="0"/>
              <a:t>    circle(x-2.7*d, y+10*d, 1.4*d);    // pupil left</a:t>
            </a:r>
          </a:p>
          <a:p>
            <a:r>
              <a:rPr lang="en-US" dirty="0"/>
              <a:t>    circle(x+3.4*d, y+10*d, 1.6*d);    // pupil right</a:t>
            </a:r>
          </a:p>
          <a:p>
            <a:endParaRPr lang="en-US" dirty="0"/>
          </a:p>
          <a:p>
            <a:r>
              <a:rPr lang="en-US" dirty="0"/>
              <a:t>    fill(255);</a:t>
            </a:r>
          </a:p>
          <a:p>
            <a:r>
              <a:rPr lang="en-US" dirty="0"/>
              <a:t>    ellipse(x, y+16*d, 8*d, 3*d);      // mouth</a:t>
            </a:r>
          </a:p>
          <a:p>
            <a:endParaRPr lang="en-US" dirty="0"/>
          </a:p>
          <a:p>
            <a:r>
              <a:rPr lang="en-US" dirty="0"/>
              <a:t>    fill(240);</a:t>
            </a:r>
          </a:p>
          <a:p>
            <a:r>
              <a:rPr lang="en-US" dirty="0"/>
              <a:t>    </a:t>
            </a:r>
            <a:r>
              <a:rPr lang="en-US" dirty="0" err="1"/>
              <a:t>rect</a:t>
            </a:r>
            <a:r>
              <a:rPr lang="en-US" dirty="0"/>
              <a:t>(x-0.5*d, y+14.6*d, 1.5*d, 2*d); // tooth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2E7BA-E12E-1D45-E700-C170AC8249FE}"/>
              </a:ext>
            </a:extLst>
          </p:cNvPr>
          <p:cNvSpPr txBox="1"/>
          <p:nvPr/>
        </p:nvSpPr>
        <p:spPr>
          <a:xfrm>
            <a:off x="150211" y="172214"/>
            <a:ext cx="3992708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Pet </a:t>
            </a:r>
            <a:r>
              <a:rPr lang="en-US" dirty="0" err="1"/>
              <a:t>pet</a:t>
            </a:r>
            <a:r>
              <a:rPr lang="en-US" dirty="0"/>
              <a:t>;</a:t>
            </a:r>
          </a:p>
          <a:p>
            <a:r>
              <a:rPr lang="en-US" dirty="0" err="1"/>
              <a:t>ArtemDude</a:t>
            </a:r>
            <a:r>
              <a:rPr lang="en-US" dirty="0"/>
              <a:t> artem;</a:t>
            </a:r>
          </a:p>
          <a:p>
            <a:endParaRPr lang="en-US" dirty="0"/>
          </a:p>
          <a:p>
            <a:r>
              <a:rPr lang="en-US" dirty="0"/>
              <a:t>void setup() {</a:t>
            </a:r>
          </a:p>
          <a:p>
            <a:r>
              <a:rPr lang="en-US" dirty="0"/>
              <a:t>  size(800, 600);</a:t>
            </a:r>
          </a:p>
          <a:p>
            <a:endParaRPr lang="en-US" dirty="0"/>
          </a:p>
          <a:p>
            <a:r>
              <a:rPr lang="en-US" dirty="0"/>
              <a:t>  float mx  = random(width);</a:t>
            </a:r>
          </a:p>
          <a:p>
            <a:r>
              <a:rPr lang="en-US" dirty="0"/>
              <a:t>  float my  = random(height);</a:t>
            </a:r>
          </a:p>
          <a:p>
            <a:r>
              <a:rPr lang="en-US" dirty="0"/>
              <a:t>  float md  = 10;</a:t>
            </a:r>
          </a:p>
          <a:p>
            <a:r>
              <a:rPr lang="en-US" dirty="0"/>
              <a:t>  float </a:t>
            </a:r>
            <a:r>
              <a:rPr lang="en-US" dirty="0" err="1"/>
              <a:t>mvx</a:t>
            </a:r>
            <a:r>
              <a:rPr lang="en-US" dirty="0"/>
              <a:t> = random(3, 6);</a:t>
            </a:r>
          </a:p>
          <a:p>
            <a:r>
              <a:rPr lang="en-US" dirty="0"/>
              <a:t>  float </a:t>
            </a:r>
            <a:r>
              <a:rPr lang="en-US" dirty="0" err="1"/>
              <a:t>mvy</a:t>
            </a:r>
            <a:r>
              <a:rPr lang="en-US" dirty="0"/>
              <a:t> = random(3, 6);</a:t>
            </a:r>
          </a:p>
          <a:p>
            <a:r>
              <a:rPr lang="en-US" dirty="0"/>
              <a:t>  pet = new Pet(mx, my, md, </a:t>
            </a:r>
            <a:r>
              <a:rPr lang="en-US" dirty="0" err="1"/>
              <a:t>mvx</a:t>
            </a:r>
            <a:r>
              <a:rPr lang="en-US" dirty="0"/>
              <a:t>, </a:t>
            </a:r>
            <a:r>
              <a:rPr lang="en-US" dirty="0" err="1"/>
              <a:t>mvy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float cx  = random(width);</a:t>
            </a:r>
          </a:p>
          <a:p>
            <a:r>
              <a:rPr lang="en-US" dirty="0"/>
              <a:t>  float cy  = random(height);</a:t>
            </a:r>
          </a:p>
          <a:p>
            <a:r>
              <a:rPr lang="en-US" dirty="0"/>
              <a:t>  float cd  = 5;</a:t>
            </a:r>
          </a:p>
          <a:p>
            <a:r>
              <a:rPr lang="en-US" dirty="0"/>
              <a:t>  float </a:t>
            </a:r>
            <a:r>
              <a:rPr lang="en-US" dirty="0" err="1"/>
              <a:t>cvx</a:t>
            </a:r>
            <a:r>
              <a:rPr lang="en-US" dirty="0"/>
              <a:t> = random(3, 6);</a:t>
            </a:r>
          </a:p>
          <a:p>
            <a:r>
              <a:rPr lang="en-US" dirty="0"/>
              <a:t>  float </a:t>
            </a:r>
            <a:r>
              <a:rPr lang="en-US" dirty="0" err="1"/>
              <a:t>cvy</a:t>
            </a:r>
            <a:r>
              <a:rPr lang="en-US" dirty="0"/>
              <a:t> = random(3, 6);</a:t>
            </a:r>
          </a:p>
          <a:p>
            <a:r>
              <a:rPr lang="en-US" dirty="0"/>
              <a:t>  artem = new </a:t>
            </a:r>
            <a:r>
              <a:rPr lang="en-US" dirty="0" err="1"/>
              <a:t>ArtemDude</a:t>
            </a:r>
            <a:r>
              <a:rPr lang="en-US" dirty="0"/>
              <a:t>(cx, cy, cd, </a:t>
            </a:r>
            <a:r>
              <a:rPr lang="en-US" dirty="0" err="1"/>
              <a:t>cvx</a:t>
            </a:r>
            <a:r>
              <a:rPr lang="en-US" dirty="0"/>
              <a:t>, </a:t>
            </a:r>
            <a:r>
              <a:rPr lang="en-US" dirty="0" err="1"/>
              <a:t>cvy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void draw() {</a:t>
            </a:r>
          </a:p>
          <a:p>
            <a:r>
              <a:rPr lang="en-US" dirty="0"/>
              <a:t>  background(50, 80, 20);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pet.move</a:t>
            </a:r>
            <a:r>
              <a:rPr lang="en-US" dirty="0"/>
              <a:t>();</a:t>
            </a:r>
          </a:p>
          <a:p>
            <a:r>
              <a:rPr lang="en-US" dirty="0"/>
              <a:t>  </a:t>
            </a:r>
            <a:r>
              <a:rPr lang="en-US" dirty="0" err="1"/>
              <a:t>artem.move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pet.show</a:t>
            </a:r>
            <a:r>
              <a:rPr lang="en-US" dirty="0"/>
              <a:t>();</a:t>
            </a:r>
          </a:p>
          <a:p>
            <a:r>
              <a:rPr lang="en-US" dirty="0"/>
              <a:t>  </a:t>
            </a:r>
            <a:r>
              <a:rPr lang="en-US" dirty="0" err="1"/>
              <a:t>artem.show</a:t>
            </a:r>
            <a:r>
              <a:rPr lang="en-US" dirty="0"/>
              <a:t>();</a:t>
            </a:r>
          </a:p>
          <a:p>
            <a:r>
              <a:rPr lang="en-US" dirty="0"/>
              <a:t>}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9C3309-6F6E-7307-7BD8-7DB095F156CE}"/>
              </a:ext>
            </a:extLst>
          </p:cNvPr>
          <p:cNvSpPr txBox="1"/>
          <p:nvPr/>
        </p:nvSpPr>
        <p:spPr>
          <a:xfrm>
            <a:off x="7699292" y="172214"/>
            <a:ext cx="3992708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Pet {</a:t>
            </a:r>
          </a:p>
          <a:p>
            <a:r>
              <a:rPr lang="en-US" dirty="0"/>
              <a:t>  float x, y;</a:t>
            </a:r>
          </a:p>
          <a:p>
            <a:r>
              <a:rPr lang="en-US" dirty="0"/>
              <a:t>  float d;</a:t>
            </a:r>
          </a:p>
          <a:p>
            <a:r>
              <a:rPr lang="en-US" dirty="0"/>
              <a:t>  float </a:t>
            </a:r>
            <a:r>
              <a:rPr lang="en-US" dirty="0" err="1"/>
              <a:t>vx</a:t>
            </a:r>
            <a:r>
              <a:rPr lang="en-US" dirty="0"/>
              <a:t>, 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Pet(float </a:t>
            </a:r>
            <a:r>
              <a:rPr lang="en-US" dirty="0" err="1"/>
              <a:t>startX</a:t>
            </a:r>
            <a:r>
              <a:rPr lang="en-US" dirty="0"/>
              <a:t>, float </a:t>
            </a:r>
            <a:r>
              <a:rPr lang="en-US" dirty="0" err="1"/>
              <a:t>startY</a:t>
            </a:r>
            <a:r>
              <a:rPr lang="en-US" dirty="0"/>
              <a:t>, float </a:t>
            </a:r>
            <a:r>
              <a:rPr lang="en-US" dirty="0" err="1"/>
              <a:t>startD</a:t>
            </a:r>
            <a:r>
              <a:rPr lang="en-US" dirty="0"/>
              <a:t>, float </a:t>
            </a:r>
            <a:r>
              <a:rPr lang="en-US" dirty="0" err="1"/>
              <a:t>startVX</a:t>
            </a:r>
            <a:r>
              <a:rPr lang="en-US" dirty="0"/>
              <a:t>, float </a:t>
            </a:r>
            <a:r>
              <a:rPr lang="en-US" dirty="0" err="1"/>
              <a:t>startVY</a:t>
            </a:r>
            <a:r>
              <a:rPr lang="en-US" dirty="0"/>
              <a:t>) {</a:t>
            </a:r>
          </a:p>
          <a:p>
            <a:r>
              <a:rPr lang="en-US" dirty="0"/>
              <a:t>    x = </a:t>
            </a:r>
            <a:r>
              <a:rPr lang="en-US" dirty="0" err="1"/>
              <a:t>startX</a:t>
            </a:r>
            <a:r>
              <a:rPr lang="en-US" dirty="0"/>
              <a:t>;</a:t>
            </a:r>
          </a:p>
          <a:p>
            <a:r>
              <a:rPr lang="en-US" dirty="0"/>
              <a:t>    y = </a:t>
            </a:r>
            <a:r>
              <a:rPr lang="en-US" dirty="0" err="1"/>
              <a:t>startY</a:t>
            </a:r>
            <a:r>
              <a:rPr lang="en-US" dirty="0"/>
              <a:t>;</a:t>
            </a:r>
          </a:p>
          <a:p>
            <a:r>
              <a:rPr lang="en-US" dirty="0"/>
              <a:t>    d = </a:t>
            </a:r>
            <a:r>
              <a:rPr lang="en-US" dirty="0" err="1"/>
              <a:t>startD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vx</a:t>
            </a:r>
            <a:r>
              <a:rPr lang="en-US" dirty="0"/>
              <a:t> = </a:t>
            </a:r>
            <a:r>
              <a:rPr lang="en-US" dirty="0" err="1"/>
              <a:t>startVX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vy</a:t>
            </a:r>
            <a:r>
              <a:rPr lang="en-US" dirty="0"/>
              <a:t> = </a:t>
            </a:r>
            <a:r>
              <a:rPr lang="en-US" dirty="0" err="1"/>
              <a:t>startVY</a:t>
            </a:r>
            <a:r>
              <a:rPr lang="en-US" dirty="0"/>
              <a:t>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void move() {</a:t>
            </a:r>
          </a:p>
          <a:p>
            <a:r>
              <a:rPr lang="en-US" dirty="0"/>
              <a:t>    x += </a:t>
            </a:r>
            <a:r>
              <a:rPr lang="en-US" dirty="0" err="1"/>
              <a:t>vx</a:t>
            </a:r>
            <a:r>
              <a:rPr lang="en-US" dirty="0"/>
              <a:t>;</a:t>
            </a:r>
          </a:p>
          <a:p>
            <a:r>
              <a:rPr lang="en-US" dirty="0"/>
              <a:t>    y += 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if (x &gt; width - 50 || x &lt; 50) {</a:t>
            </a:r>
          </a:p>
          <a:p>
            <a:r>
              <a:rPr lang="en-US" dirty="0"/>
              <a:t>      </a:t>
            </a:r>
            <a:r>
              <a:rPr lang="en-US" dirty="0" err="1"/>
              <a:t>vx</a:t>
            </a:r>
            <a:r>
              <a:rPr lang="en-US" dirty="0"/>
              <a:t> = -</a:t>
            </a:r>
            <a:r>
              <a:rPr lang="en-US" dirty="0" err="1"/>
              <a:t>vx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if (y &gt; height - 50 || y &lt; 50) {</a:t>
            </a:r>
          </a:p>
          <a:p>
            <a:r>
              <a:rPr lang="en-US" dirty="0"/>
              <a:t>      </a:t>
            </a:r>
            <a:r>
              <a:rPr lang="en-US" dirty="0" err="1"/>
              <a:t>vy</a:t>
            </a:r>
            <a:r>
              <a:rPr lang="en-US" dirty="0"/>
              <a:t> = -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void show() {</a:t>
            </a:r>
          </a:p>
          <a:p>
            <a:r>
              <a:rPr lang="en-US" dirty="0"/>
              <a:t>    fill(255,160,60);</a:t>
            </a:r>
          </a:p>
          <a:p>
            <a:r>
              <a:rPr lang="en-US" dirty="0"/>
              <a:t>    circle(x, y, d*10);                // face</a:t>
            </a:r>
          </a:p>
          <a:p>
            <a:r>
              <a:rPr lang="en-US" dirty="0"/>
              <a:t>    ellipse(x, </a:t>
            </a:r>
            <a:r>
              <a:rPr lang="en-US" dirty="0" err="1"/>
              <a:t>y+d</a:t>
            </a:r>
            <a:r>
              <a:rPr lang="en-US" dirty="0"/>
              <a:t>, d*5, d*4);         // muzzle</a:t>
            </a:r>
          </a:p>
          <a:p>
            <a:endParaRPr lang="en-US" dirty="0"/>
          </a:p>
          <a:p>
            <a:r>
              <a:rPr lang="en-US" dirty="0"/>
              <a:t>    fill(0);</a:t>
            </a:r>
          </a:p>
          <a:p>
            <a:r>
              <a:rPr lang="en-US" dirty="0"/>
              <a:t>    ellipse(x, y-0.5*d, d*2, d);       // nose</a:t>
            </a:r>
          </a:p>
          <a:p>
            <a:r>
              <a:rPr lang="en-US" dirty="0"/>
              <a:t>    circle(</a:t>
            </a:r>
            <a:r>
              <a:rPr lang="en-US" dirty="0" err="1"/>
              <a:t>x+d</a:t>
            </a:r>
            <a:r>
              <a:rPr lang="en-US" dirty="0"/>
              <a:t>*2, y-d*2, 0.5*d);       // right eye</a:t>
            </a:r>
          </a:p>
          <a:p>
            <a:r>
              <a:rPr lang="en-US" dirty="0"/>
              <a:t>    circle(x-d*2, y-d*2, 0.5*d);       // left eye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47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ndicam 2025-10-15 21-07-15-074">
            <a:hlinkClick r:id="" action="ppaction://media"/>
            <a:extLst>
              <a:ext uri="{FF2B5EF4-FFF2-40B4-BE49-F238E27FC236}">
                <a16:creationId xmlns:a16="http://schemas.microsoft.com/office/drawing/2014/main" id="{FC801C4A-45D1-660C-A1CC-9D8D21D3C1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89116" y="185016"/>
            <a:ext cx="6637506" cy="522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9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7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A58A6-1B07-0753-EEB1-00E2FA57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Sprint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1D5934-57EB-9306-664D-0DC4955D5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Sprint 3 – Color and size change</a:t>
            </a:r>
          </a:p>
          <a:p>
            <a:r>
              <a:rPr lang="en-US" dirty="0"/>
              <a:t>When characters hit left or right walls, change color.</a:t>
            </a:r>
            <a:br>
              <a:rPr lang="en-US" dirty="0"/>
            </a:br>
            <a:r>
              <a:rPr lang="en-US" dirty="0"/>
              <a:t>When they hit top or bottom walls, make them shrink.</a:t>
            </a:r>
            <a:br>
              <a:rPr lang="en-US" dirty="0"/>
            </a:br>
            <a:r>
              <a:rPr lang="en-US" dirty="0"/>
              <a:t>Add one more variable for color (</a:t>
            </a:r>
            <a:r>
              <a:rPr lang="en-US" dirty="0" err="1"/>
              <a:t>cFlag</a:t>
            </a:r>
            <a:r>
              <a:rPr lang="en-US" dirty="0"/>
              <a:t>).</a:t>
            </a:r>
            <a:br>
              <a:rPr lang="en-US" dirty="0"/>
            </a:br>
            <a:r>
              <a:rPr lang="en-US" dirty="0"/>
              <a:t>Modify move functions to include color and size.</a:t>
            </a:r>
            <a:br>
              <a:rPr lang="en-US" dirty="0"/>
            </a:br>
            <a:r>
              <a:rPr lang="en-US" dirty="0"/>
              <a:t>Goal: make collisions visible through visual changes.</a:t>
            </a:r>
          </a:p>
        </p:txBody>
      </p:sp>
    </p:spTree>
    <p:extLst>
      <p:ext uri="{BB962C8B-B14F-4D97-AF65-F5344CB8AC3E}">
        <p14:creationId xmlns:p14="http://schemas.microsoft.com/office/powerpoint/2010/main" val="371279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3567DD-12E3-C1C4-B844-FCD667EB97F2}"/>
              </a:ext>
            </a:extLst>
          </p:cNvPr>
          <p:cNvSpPr txBox="1"/>
          <p:nvPr/>
        </p:nvSpPr>
        <p:spPr>
          <a:xfrm>
            <a:off x="267411" y="582067"/>
            <a:ext cx="3897184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Pet </a:t>
            </a:r>
            <a:r>
              <a:rPr lang="en-US" sz="1600" dirty="0" err="1"/>
              <a:t>pet</a:t>
            </a:r>
            <a:r>
              <a:rPr lang="en-US" sz="1600" dirty="0"/>
              <a:t>;</a:t>
            </a:r>
          </a:p>
          <a:p>
            <a:r>
              <a:rPr lang="en-US" sz="1600" dirty="0" err="1"/>
              <a:t>ArtemDude</a:t>
            </a:r>
            <a:r>
              <a:rPr lang="en-US" sz="1600" dirty="0"/>
              <a:t> artem;</a:t>
            </a:r>
          </a:p>
          <a:p>
            <a:endParaRPr lang="en-US" sz="1600" dirty="0"/>
          </a:p>
          <a:p>
            <a:r>
              <a:rPr lang="en-US" sz="1600" dirty="0"/>
              <a:t>void setup() {</a:t>
            </a:r>
          </a:p>
          <a:p>
            <a:r>
              <a:rPr lang="en-US" sz="1600" dirty="0"/>
              <a:t>  size(800, 600);</a:t>
            </a:r>
          </a:p>
          <a:p>
            <a:endParaRPr lang="en-US" sz="1600" dirty="0"/>
          </a:p>
          <a:p>
            <a:r>
              <a:rPr lang="en-US" sz="1600" dirty="0"/>
              <a:t>  float mx  = random(width);</a:t>
            </a:r>
          </a:p>
          <a:p>
            <a:r>
              <a:rPr lang="en-US" sz="1600" dirty="0"/>
              <a:t>  float my  = random(height);</a:t>
            </a:r>
          </a:p>
          <a:p>
            <a:r>
              <a:rPr lang="en-US" sz="1600" dirty="0"/>
              <a:t>  float md  = 10;</a:t>
            </a:r>
          </a:p>
          <a:p>
            <a:r>
              <a:rPr lang="en-US" sz="1600" dirty="0"/>
              <a:t>  float </a:t>
            </a:r>
            <a:r>
              <a:rPr lang="en-US" sz="1600" dirty="0" err="1"/>
              <a:t>mvx</a:t>
            </a:r>
            <a:r>
              <a:rPr lang="en-US" sz="1600" dirty="0"/>
              <a:t> = random(3, 6);</a:t>
            </a:r>
          </a:p>
          <a:p>
            <a:r>
              <a:rPr lang="en-US" sz="1600" dirty="0"/>
              <a:t>  float </a:t>
            </a:r>
            <a:r>
              <a:rPr lang="en-US" sz="1600" dirty="0" err="1"/>
              <a:t>mvy</a:t>
            </a:r>
            <a:r>
              <a:rPr lang="en-US" sz="1600" dirty="0"/>
              <a:t> = random(3, 6);</a:t>
            </a:r>
          </a:p>
          <a:p>
            <a:r>
              <a:rPr lang="en-US" sz="1600" dirty="0"/>
              <a:t>  int mc    = 0;</a:t>
            </a:r>
          </a:p>
          <a:p>
            <a:r>
              <a:rPr lang="en-US" sz="1600" dirty="0"/>
              <a:t>  pet = new Pet(mx, my, md, </a:t>
            </a:r>
            <a:r>
              <a:rPr lang="en-US" sz="1600" dirty="0" err="1"/>
              <a:t>mvx</a:t>
            </a:r>
            <a:r>
              <a:rPr lang="en-US" sz="1600" dirty="0"/>
              <a:t>, </a:t>
            </a:r>
            <a:r>
              <a:rPr lang="en-US" sz="1600" dirty="0" err="1"/>
              <a:t>mvy</a:t>
            </a:r>
            <a:r>
              <a:rPr lang="en-US" sz="1600" dirty="0"/>
              <a:t>, mc);</a:t>
            </a:r>
          </a:p>
          <a:p>
            <a:endParaRPr lang="en-US" sz="1600" dirty="0"/>
          </a:p>
          <a:p>
            <a:r>
              <a:rPr lang="en-US" sz="1600" dirty="0"/>
              <a:t>  float cx  = random(width);</a:t>
            </a:r>
          </a:p>
          <a:p>
            <a:r>
              <a:rPr lang="en-US" sz="1600" dirty="0"/>
              <a:t>  float cy  = random(height);</a:t>
            </a:r>
          </a:p>
          <a:p>
            <a:r>
              <a:rPr lang="en-US" sz="1600" dirty="0"/>
              <a:t>  float cd  = 5;</a:t>
            </a:r>
          </a:p>
          <a:p>
            <a:r>
              <a:rPr lang="en-US" sz="1600" dirty="0"/>
              <a:t>  float </a:t>
            </a:r>
            <a:r>
              <a:rPr lang="en-US" sz="1600" dirty="0" err="1"/>
              <a:t>cvx</a:t>
            </a:r>
            <a:r>
              <a:rPr lang="en-US" sz="1600" dirty="0"/>
              <a:t> = random(3, 6);</a:t>
            </a:r>
          </a:p>
          <a:p>
            <a:r>
              <a:rPr lang="en-US" sz="1600" dirty="0"/>
              <a:t>  float </a:t>
            </a:r>
            <a:r>
              <a:rPr lang="en-US" sz="1600" dirty="0" err="1"/>
              <a:t>cvy</a:t>
            </a:r>
            <a:r>
              <a:rPr lang="en-US" sz="1600" dirty="0"/>
              <a:t> = random(3, 6);</a:t>
            </a:r>
          </a:p>
          <a:p>
            <a:r>
              <a:rPr lang="en-US" sz="1600" dirty="0"/>
              <a:t>  int cc    = 0;</a:t>
            </a:r>
          </a:p>
          <a:p>
            <a:r>
              <a:rPr lang="en-US" sz="1600" dirty="0"/>
              <a:t>  artem = new </a:t>
            </a:r>
            <a:r>
              <a:rPr lang="en-US" sz="1600" dirty="0" err="1"/>
              <a:t>ArtemDude</a:t>
            </a:r>
            <a:r>
              <a:rPr lang="en-US" sz="1600" dirty="0"/>
              <a:t>(cx, cy, cd, </a:t>
            </a:r>
            <a:r>
              <a:rPr lang="en-US" sz="1600" dirty="0" err="1"/>
              <a:t>cvx</a:t>
            </a:r>
            <a:r>
              <a:rPr lang="en-US" sz="1600" dirty="0"/>
              <a:t>, </a:t>
            </a:r>
            <a:r>
              <a:rPr lang="en-US" sz="1600" dirty="0" err="1"/>
              <a:t>cvy</a:t>
            </a:r>
            <a:r>
              <a:rPr lang="en-US" sz="1600" dirty="0"/>
              <a:t>, cc);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/>
              <a:t>void draw() {</a:t>
            </a:r>
          </a:p>
          <a:p>
            <a:r>
              <a:rPr lang="en-US" sz="1600" dirty="0"/>
              <a:t>  background(50, 80, 20);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dirty="0" err="1"/>
              <a:t>pet.move</a:t>
            </a:r>
            <a:r>
              <a:rPr lang="en-US" sz="1600" dirty="0"/>
              <a:t>();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artem.move</a:t>
            </a:r>
            <a:r>
              <a:rPr lang="en-US" sz="1600" dirty="0"/>
              <a:t>();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dirty="0" err="1"/>
              <a:t>pet.show</a:t>
            </a:r>
            <a:r>
              <a:rPr lang="en-US" sz="1600" dirty="0"/>
              <a:t>();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artem.show</a:t>
            </a:r>
            <a:r>
              <a:rPr lang="en-US" sz="1600" dirty="0"/>
              <a:t>();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55D614-249B-80E1-BD7F-75739BEA4348}"/>
              </a:ext>
            </a:extLst>
          </p:cNvPr>
          <p:cNvSpPr txBox="1"/>
          <p:nvPr/>
        </p:nvSpPr>
        <p:spPr>
          <a:xfrm>
            <a:off x="4473534" y="582067"/>
            <a:ext cx="3244932" cy="197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class </a:t>
            </a:r>
            <a:r>
              <a:rPr lang="en-US" sz="1600" dirty="0" err="1"/>
              <a:t>ArtemDude</a:t>
            </a:r>
            <a:r>
              <a:rPr lang="en-US" sz="1600" dirty="0"/>
              <a:t> {</a:t>
            </a:r>
          </a:p>
          <a:p>
            <a:r>
              <a:rPr lang="en-US" sz="1600" dirty="0"/>
              <a:t>  float x, y;</a:t>
            </a:r>
          </a:p>
          <a:p>
            <a:r>
              <a:rPr lang="en-US" sz="1600" dirty="0"/>
              <a:t>  float d;</a:t>
            </a:r>
          </a:p>
          <a:p>
            <a:r>
              <a:rPr lang="en-US" sz="1600" dirty="0"/>
              <a:t>  float </a:t>
            </a:r>
            <a:r>
              <a:rPr lang="en-US" sz="1600" dirty="0" err="1"/>
              <a:t>vx</a:t>
            </a:r>
            <a:r>
              <a:rPr lang="en-US" sz="1600" dirty="0"/>
              <a:t>, </a:t>
            </a:r>
            <a:r>
              <a:rPr lang="en-US" sz="1600" dirty="0" err="1"/>
              <a:t>vy</a:t>
            </a:r>
            <a:r>
              <a:rPr lang="en-US" sz="1600" dirty="0"/>
              <a:t>;</a:t>
            </a:r>
          </a:p>
          <a:p>
            <a:r>
              <a:rPr lang="en-US" sz="1600" dirty="0"/>
              <a:t>  int </a:t>
            </a:r>
            <a:r>
              <a:rPr lang="en-US" sz="1600" dirty="0" err="1"/>
              <a:t>cFlag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dirty="0" err="1"/>
              <a:t>ArtemDude</a:t>
            </a:r>
            <a:r>
              <a:rPr lang="en-US" sz="1600" dirty="0"/>
              <a:t>(float </a:t>
            </a:r>
            <a:r>
              <a:rPr lang="en-US" sz="1600" dirty="0" err="1"/>
              <a:t>startX</a:t>
            </a:r>
            <a:r>
              <a:rPr lang="en-US" sz="1600" dirty="0"/>
              <a:t>, float </a:t>
            </a:r>
            <a:r>
              <a:rPr lang="en-US" sz="1600" dirty="0" err="1"/>
              <a:t>startY</a:t>
            </a:r>
            <a:r>
              <a:rPr lang="en-US" sz="1600" dirty="0"/>
              <a:t>, float </a:t>
            </a:r>
            <a:r>
              <a:rPr lang="en-US" sz="1600" dirty="0" err="1"/>
              <a:t>startD</a:t>
            </a:r>
            <a:r>
              <a:rPr lang="en-US" sz="1600" dirty="0"/>
              <a:t>, float </a:t>
            </a:r>
            <a:r>
              <a:rPr lang="en-US" sz="1600" dirty="0" err="1"/>
              <a:t>startVX</a:t>
            </a:r>
            <a:r>
              <a:rPr lang="en-US" sz="1600" dirty="0"/>
              <a:t>, float </a:t>
            </a:r>
            <a:r>
              <a:rPr lang="en-US" sz="1600" dirty="0" err="1"/>
              <a:t>startVY</a:t>
            </a:r>
            <a:r>
              <a:rPr lang="en-US" sz="1600" dirty="0"/>
              <a:t>, int </a:t>
            </a:r>
            <a:r>
              <a:rPr lang="en-US" sz="1600" dirty="0" err="1"/>
              <a:t>startC</a:t>
            </a:r>
            <a:r>
              <a:rPr lang="en-US" sz="1600" dirty="0"/>
              <a:t>) {</a:t>
            </a:r>
          </a:p>
          <a:p>
            <a:r>
              <a:rPr lang="en-US" sz="1600" dirty="0"/>
              <a:t>    x = </a:t>
            </a:r>
            <a:r>
              <a:rPr lang="en-US" sz="1600" dirty="0" err="1"/>
              <a:t>startX</a:t>
            </a:r>
            <a:r>
              <a:rPr lang="en-US" sz="1600" dirty="0"/>
              <a:t>;</a:t>
            </a:r>
          </a:p>
          <a:p>
            <a:r>
              <a:rPr lang="en-US" sz="1600" dirty="0"/>
              <a:t>    y = </a:t>
            </a:r>
            <a:r>
              <a:rPr lang="en-US" sz="1600" dirty="0" err="1"/>
              <a:t>startY</a:t>
            </a:r>
            <a:r>
              <a:rPr lang="en-US" sz="1600" dirty="0"/>
              <a:t>;</a:t>
            </a:r>
          </a:p>
          <a:p>
            <a:r>
              <a:rPr lang="en-US" sz="1600" dirty="0"/>
              <a:t>    d = </a:t>
            </a:r>
            <a:r>
              <a:rPr lang="en-US" sz="1600" dirty="0" err="1"/>
              <a:t>startD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vx</a:t>
            </a:r>
            <a:r>
              <a:rPr lang="en-US" sz="1600" dirty="0"/>
              <a:t> = </a:t>
            </a:r>
            <a:r>
              <a:rPr lang="en-US" sz="1600" dirty="0" err="1"/>
              <a:t>startVX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vy</a:t>
            </a:r>
            <a:r>
              <a:rPr lang="en-US" sz="1600" dirty="0"/>
              <a:t> = </a:t>
            </a:r>
            <a:r>
              <a:rPr lang="en-US" sz="1600" dirty="0" err="1"/>
              <a:t>startVY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cFlag</a:t>
            </a:r>
            <a:r>
              <a:rPr lang="en-US" sz="1600" dirty="0"/>
              <a:t> = </a:t>
            </a:r>
            <a:r>
              <a:rPr lang="en-US" sz="1600" dirty="0" err="1"/>
              <a:t>startC</a:t>
            </a:r>
            <a:r>
              <a:rPr lang="en-US" sz="1600" dirty="0"/>
              <a:t>;</a:t>
            </a:r>
          </a:p>
          <a:p>
            <a:r>
              <a:rPr lang="en-US" sz="1600" dirty="0"/>
              <a:t>  }</a:t>
            </a:r>
          </a:p>
          <a:p>
            <a:endParaRPr lang="en-US" sz="1600" dirty="0"/>
          </a:p>
          <a:p>
            <a:r>
              <a:rPr lang="en-US" sz="1600" dirty="0"/>
              <a:t>  void move() {</a:t>
            </a:r>
          </a:p>
          <a:p>
            <a:r>
              <a:rPr lang="en-US" sz="1600" dirty="0"/>
              <a:t>    x += </a:t>
            </a:r>
            <a:r>
              <a:rPr lang="en-US" sz="1600" dirty="0" err="1"/>
              <a:t>vx</a:t>
            </a:r>
            <a:r>
              <a:rPr lang="en-US" sz="1600" dirty="0"/>
              <a:t>;</a:t>
            </a:r>
          </a:p>
          <a:p>
            <a:r>
              <a:rPr lang="en-US" sz="1600" dirty="0"/>
              <a:t>    y += </a:t>
            </a:r>
            <a:r>
              <a:rPr lang="en-US" sz="1600" dirty="0" err="1"/>
              <a:t>vy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    // </a:t>
            </a:r>
            <a:r>
              <a:rPr lang="ru-RU" sz="1600" dirty="0"/>
              <a:t>по </a:t>
            </a:r>
            <a:r>
              <a:rPr lang="en-US" sz="1600" dirty="0"/>
              <a:t>X + </a:t>
            </a:r>
            <a:r>
              <a:rPr lang="ru-RU" sz="1600" dirty="0"/>
              <a:t>смена цвета</a:t>
            </a:r>
          </a:p>
          <a:p>
            <a:r>
              <a:rPr lang="ru-RU" sz="1600" dirty="0"/>
              <a:t>    </a:t>
            </a:r>
            <a:r>
              <a:rPr lang="en-US" sz="1600" dirty="0"/>
              <a:t>if (x &gt; width - 50) {</a:t>
            </a:r>
          </a:p>
          <a:p>
            <a:r>
              <a:rPr lang="en-US" sz="1600" dirty="0"/>
              <a:t>      x = width - 50;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vx</a:t>
            </a:r>
            <a:r>
              <a:rPr lang="en-US" sz="1600" dirty="0"/>
              <a:t> = -abs(</a:t>
            </a:r>
            <a:r>
              <a:rPr lang="en-US" sz="1600" dirty="0" err="1"/>
              <a:t>vx</a:t>
            </a:r>
            <a:r>
              <a:rPr lang="en-US" sz="1600" dirty="0"/>
              <a:t>);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cFlag</a:t>
            </a:r>
            <a:r>
              <a:rPr lang="en-US" sz="1600" dirty="0"/>
              <a:t> = 1 - </a:t>
            </a:r>
            <a:r>
              <a:rPr lang="en-US" sz="1600" dirty="0" err="1"/>
              <a:t>cFlag</a:t>
            </a:r>
            <a:r>
              <a:rPr lang="en-US" sz="1600" dirty="0"/>
              <a:t>;</a:t>
            </a:r>
          </a:p>
          <a:p>
            <a:r>
              <a:rPr lang="en-US" sz="1600" dirty="0"/>
              <a:t>    } else if (x &lt; 50) {</a:t>
            </a:r>
          </a:p>
          <a:p>
            <a:r>
              <a:rPr lang="en-US" sz="1600" dirty="0"/>
              <a:t>      x = 50;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vx</a:t>
            </a:r>
            <a:r>
              <a:rPr lang="en-US" sz="1600" dirty="0"/>
              <a:t> = abs(</a:t>
            </a:r>
            <a:r>
              <a:rPr lang="en-US" sz="1600" dirty="0" err="1"/>
              <a:t>vx</a:t>
            </a:r>
            <a:r>
              <a:rPr lang="en-US" sz="1600" dirty="0"/>
              <a:t>);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cFlag</a:t>
            </a:r>
            <a:r>
              <a:rPr lang="en-US" sz="1600" dirty="0"/>
              <a:t> = 1 - </a:t>
            </a:r>
            <a:r>
              <a:rPr lang="en-US" sz="1600" dirty="0" err="1"/>
              <a:t>cFlag</a:t>
            </a:r>
            <a:r>
              <a:rPr lang="en-US" sz="1600" dirty="0"/>
              <a:t>;</a:t>
            </a:r>
          </a:p>
          <a:p>
            <a:r>
              <a:rPr lang="en-US" sz="1600" dirty="0"/>
              <a:t>    }</a:t>
            </a:r>
          </a:p>
          <a:p>
            <a:endParaRPr lang="en-US" sz="1600" dirty="0"/>
          </a:p>
          <a:p>
            <a:r>
              <a:rPr lang="en-US" sz="1600" dirty="0"/>
              <a:t>    // </a:t>
            </a:r>
            <a:r>
              <a:rPr lang="ru-RU" sz="1600" dirty="0"/>
              <a:t>по </a:t>
            </a:r>
            <a:r>
              <a:rPr lang="en-US" sz="1600" dirty="0"/>
              <a:t>Y + </a:t>
            </a:r>
            <a:r>
              <a:rPr lang="ru-RU" sz="1600" dirty="0"/>
              <a:t>уменьшение</a:t>
            </a:r>
          </a:p>
          <a:p>
            <a:r>
              <a:rPr lang="ru-RU" sz="1600" dirty="0"/>
              <a:t>    </a:t>
            </a:r>
            <a:r>
              <a:rPr lang="en-US" sz="1600" dirty="0"/>
              <a:t>if (y &gt; height - 50) {</a:t>
            </a:r>
          </a:p>
          <a:p>
            <a:r>
              <a:rPr lang="en-US" sz="1600" dirty="0"/>
              <a:t>      y = height - 50;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vy</a:t>
            </a:r>
            <a:r>
              <a:rPr lang="en-US" sz="1600" dirty="0"/>
              <a:t> = -abs(</a:t>
            </a:r>
            <a:r>
              <a:rPr lang="en-US" sz="1600" dirty="0" err="1"/>
              <a:t>vy</a:t>
            </a:r>
            <a:r>
              <a:rPr lang="en-US" sz="1600" dirty="0"/>
              <a:t>);</a:t>
            </a:r>
          </a:p>
          <a:p>
            <a:r>
              <a:rPr lang="en-US" sz="1600" dirty="0"/>
              <a:t>      d = d * 0.9;</a:t>
            </a:r>
          </a:p>
          <a:p>
            <a:r>
              <a:rPr lang="en-US" sz="1600" dirty="0"/>
              <a:t>    } else if (y &lt; 50) {</a:t>
            </a:r>
          </a:p>
          <a:p>
            <a:r>
              <a:rPr lang="en-US" sz="1600" dirty="0"/>
              <a:t>      y = 50;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vy</a:t>
            </a:r>
            <a:r>
              <a:rPr lang="en-US" sz="1600" dirty="0"/>
              <a:t> = abs(</a:t>
            </a:r>
            <a:r>
              <a:rPr lang="en-US" sz="1600" dirty="0" err="1"/>
              <a:t>vy</a:t>
            </a:r>
            <a:r>
              <a:rPr lang="en-US" sz="1600" dirty="0"/>
              <a:t>);</a:t>
            </a:r>
          </a:p>
          <a:p>
            <a:r>
              <a:rPr lang="en-US" sz="1600" dirty="0"/>
              <a:t>      d = d * 0.9;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}</a:t>
            </a:r>
          </a:p>
          <a:p>
            <a:endParaRPr lang="en-US" sz="1600" dirty="0"/>
          </a:p>
          <a:p>
            <a:r>
              <a:rPr lang="en-US" sz="1600" dirty="0"/>
              <a:t>  void show() {</a:t>
            </a:r>
          </a:p>
          <a:p>
            <a:r>
              <a:rPr lang="en-US" sz="1600" dirty="0"/>
              <a:t>    if (</a:t>
            </a:r>
            <a:r>
              <a:rPr lang="en-US" sz="1600" dirty="0" err="1"/>
              <a:t>cFlag</a:t>
            </a:r>
            <a:r>
              <a:rPr lang="en-US" sz="1600" dirty="0"/>
              <a:t> == 0) fill(255);</a:t>
            </a:r>
          </a:p>
          <a:p>
            <a:r>
              <a:rPr lang="en-US" sz="1600" dirty="0"/>
              <a:t>    else            fill(120);</a:t>
            </a:r>
          </a:p>
          <a:p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strokeWeight</a:t>
            </a:r>
            <a:r>
              <a:rPr lang="en-US" sz="1600" dirty="0"/>
              <a:t>(2);</a:t>
            </a:r>
          </a:p>
          <a:p>
            <a:r>
              <a:rPr lang="en-US" sz="1600" dirty="0"/>
              <a:t>    triangle(x-15*d, y+20*d,</a:t>
            </a:r>
          </a:p>
          <a:p>
            <a:r>
              <a:rPr lang="en-US" sz="1600" dirty="0"/>
              <a:t>             x+15*d, y+20*d,</a:t>
            </a:r>
          </a:p>
          <a:p>
            <a:r>
              <a:rPr lang="en-US" sz="1600" dirty="0"/>
              <a:t>             x,      y);          // body</a:t>
            </a:r>
          </a:p>
          <a:p>
            <a:endParaRPr lang="en-US" sz="1600" dirty="0"/>
          </a:p>
          <a:p>
            <a:r>
              <a:rPr lang="en-US" sz="1600" dirty="0"/>
              <a:t>    fill(255);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rect</a:t>
            </a:r>
            <a:r>
              <a:rPr lang="en-US" sz="1600" dirty="0"/>
              <a:t>(x-5*d, y+9*d, 4*d, 2*d);  // left eye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rect</a:t>
            </a:r>
            <a:r>
              <a:rPr lang="en-US" sz="1600" dirty="0"/>
              <a:t>(x+1*d, y+9*d, 4*d, 2*d);  // right eye</a:t>
            </a:r>
          </a:p>
          <a:p>
            <a:endParaRPr lang="en-US" sz="1600" dirty="0"/>
          </a:p>
          <a:p>
            <a:r>
              <a:rPr lang="en-US" sz="1600" dirty="0"/>
              <a:t>    stroke(0);</a:t>
            </a:r>
          </a:p>
          <a:p>
            <a:r>
              <a:rPr lang="en-US" sz="1600" dirty="0"/>
              <a:t>    line(x+1*d,  y+8*d, x+5*d,  y+8*d); // eyebrow right</a:t>
            </a:r>
          </a:p>
          <a:p>
            <a:r>
              <a:rPr lang="en-US" sz="1600" dirty="0"/>
              <a:t>    line(x-5*d,  y+8*d, x-1*d,  y+8*d); // eyebrow left</a:t>
            </a:r>
          </a:p>
          <a:p>
            <a:endParaRPr lang="en-US" sz="1600" dirty="0"/>
          </a:p>
          <a:p>
            <a:r>
              <a:rPr lang="en-US" sz="1600" dirty="0"/>
              <a:t>    fill(40,150,180);</a:t>
            </a:r>
          </a:p>
          <a:p>
            <a:r>
              <a:rPr lang="en-US" sz="1600" dirty="0"/>
              <a:t>    circle(x-2.7*d, y+10*d, 1.4*d);     // pupil left</a:t>
            </a:r>
          </a:p>
          <a:p>
            <a:r>
              <a:rPr lang="en-US" sz="1600" dirty="0"/>
              <a:t>    circle(x+3.4*d, y+10*d, 1.6*d);     // pupil right</a:t>
            </a:r>
          </a:p>
          <a:p>
            <a:endParaRPr lang="en-US" sz="1600" dirty="0"/>
          </a:p>
          <a:p>
            <a:r>
              <a:rPr lang="en-US" sz="1600" dirty="0"/>
              <a:t>    fill(255);</a:t>
            </a:r>
          </a:p>
          <a:p>
            <a:r>
              <a:rPr lang="en-US" sz="1600" dirty="0"/>
              <a:t>    ellipse(x, y+16*d, 8*d, 3*d);       // mouth</a:t>
            </a:r>
          </a:p>
          <a:p>
            <a:endParaRPr lang="en-US" sz="1600" dirty="0"/>
          </a:p>
          <a:p>
            <a:r>
              <a:rPr lang="en-US" sz="1600" dirty="0"/>
              <a:t>    fill(240);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rect</a:t>
            </a:r>
            <a:r>
              <a:rPr lang="en-US" sz="1600" dirty="0"/>
              <a:t>(x-0.5*d, y+14.6*d, 1.5*d, 2*d); // tooth</a:t>
            </a:r>
          </a:p>
          <a:p>
            <a:r>
              <a:rPr lang="en-US" sz="1600" dirty="0"/>
              <a:t>  }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D2AD1-55EF-ED90-6BFE-74E249F58B1C}"/>
              </a:ext>
            </a:extLst>
          </p:cNvPr>
          <p:cNvSpPr txBox="1"/>
          <p:nvPr/>
        </p:nvSpPr>
        <p:spPr>
          <a:xfrm>
            <a:off x="7492957" y="582067"/>
            <a:ext cx="4143500" cy="1643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Pet {</a:t>
            </a:r>
          </a:p>
          <a:p>
            <a:r>
              <a:rPr lang="en-US" dirty="0"/>
              <a:t>  float x, y;</a:t>
            </a:r>
          </a:p>
          <a:p>
            <a:r>
              <a:rPr lang="en-US" dirty="0"/>
              <a:t>  float d;</a:t>
            </a:r>
          </a:p>
          <a:p>
            <a:r>
              <a:rPr lang="en-US" dirty="0"/>
              <a:t>  float </a:t>
            </a:r>
            <a:r>
              <a:rPr lang="en-US" dirty="0" err="1"/>
              <a:t>vx</a:t>
            </a:r>
            <a:r>
              <a:rPr lang="en-US" dirty="0"/>
              <a:t>, 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r>
              <a:rPr lang="en-US" dirty="0"/>
              <a:t>  int </a:t>
            </a:r>
            <a:r>
              <a:rPr lang="en-US" dirty="0" err="1"/>
              <a:t>cFlag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Pet(float </a:t>
            </a:r>
            <a:r>
              <a:rPr lang="en-US" dirty="0" err="1"/>
              <a:t>startX</a:t>
            </a:r>
            <a:r>
              <a:rPr lang="en-US" dirty="0"/>
              <a:t>, float </a:t>
            </a:r>
            <a:r>
              <a:rPr lang="en-US" dirty="0" err="1"/>
              <a:t>startY</a:t>
            </a:r>
            <a:r>
              <a:rPr lang="en-US" dirty="0"/>
              <a:t>, float </a:t>
            </a:r>
            <a:r>
              <a:rPr lang="en-US" dirty="0" err="1"/>
              <a:t>startD</a:t>
            </a:r>
            <a:r>
              <a:rPr lang="en-US" dirty="0"/>
              <a:t>, float </a:t>
            </a:r>
            <a:r>
              <a:rPr lang="en-US" dirty="0" err="1"/>
              <a:t>startVX</a:t>
            </a:r>
            <a:r>
              <a:rPr lang="en-US" dirty="0"/>
              <a:t>, float </a:t>
            </a:r>
            <a:r>
              <a:rPr lang="en-US" dirty="0" err="1"/>
              <a:t>startVY</a:t>
            </a:r>
            <a:r>
              <a:rPr lang="en-US" dirty="0"/>
              <a:t>, int </a:t>
            </a:r>
            <a:r>
              <a:rPr lang="en-US" dirty="0" err="1"/>
              <a:t>startC</a:t>
            </a:r>
            <a:r>
              <a:rPr lang="en-US" dirty="0"/>
              <a:t>) {</a:t>
            </a:r>
          </a:p>
          <a:p>
            <a:r>
              <a:rPr lang="en-US" dirty="0"/>
              <a:t>    x = </a:t>
            </a:r>
            <a:r>
              <a:rPr lang="en-US" dirty="0" err="1"/>
              <a:t>startX</a:t>
            </a:r>
            <a:r>
              <a:rPr lang="en-US" dirty="0"/>
              <a:t>;</a:t>
            </a:r>
          </a:p>
          <a:p>
            <a:r>
              <a:rPr lang="en-US" dirty="0"/>
              <a:t>    y = </a:t>
            </a:r>
            <a:r>
              <a:rPr lang="en-US" dirty="0" err="1"/>
              <a:t>startY</a:t>
            </a:r>
            <a:r>
              <a:rPr lang="en-US" dirty="0"/>
              <a:t>;</a:t>
            </a:r>
          </a:p>
          <a:p>
            <a:r>
              <a:rPr lang="en-US" dirty="0"/>
              <a:t>    d = </a:t>
            </a:r>
            <a:r>
              <a:rPr lang="en-US" dirty="0" err="1"/>
              <a:t>startD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vx</a:t>
            </a:r>
            <a:r>
              <a:rPr lang="en-US" dirty="0"/>
              <a:t> = </a:t>
            </a:r>
            <a:r>
              <a:rPr lang="en-US" dirty="0" err="1"/>
              <a:t>startVX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vy</a:t>
            </a:r>
            <a:r>
              <a:rPr lang="en-US" dirty="0"/>
              <a:t> = </a:t>
            </a:r>
            <a:r>
              <a:rPr lang="en-US" dirty="0" err="1"/>
              <a:t>startVY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cFlag</a:t>
            </a:r>
            <a:r>
              <a:rPr lang="en-US" dirty="0"/>
              <a:t> = </a:t>
            </a:r>
            <a:r>
              <a:rPr lang="en-US" dirty="0" err="1"/>
              <a:t>startC</a:t>
            </a:r>
            <a:r>
              <a:rPr lang="en-US" dirty="0"/>
              <a:t>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void move() {</a:t>
            </a:r>
          </a:p>
          <a:p>
            <a:r>
              <a:rPr lang="en-US" dirty="0"/>
              <a:t>    x += </a:t>
            </a:r>
            <a:r>
              <a:rPr lang="en-US" dirty="0" err="1"/>
              <a:t>vx</a:t>
            </a:r>
            <a:r>
              <a:rPr lang="en-US" dirty="0"/>
              <a:t>;</a:t>
            </a:r>
          </a:p>
          <a:p>
            <a:r>
              <a:rPr lang="en-US" dirty="0"/>
              <a:t>    y += 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</a:t>
            </a:r>
            <a:r>
              <a:rPr lang="ru-RU" dirty="0"/>
              <a:t>по </a:t>
            </a:r>
            <a:r>
              <a:rPr lang="en-US" dirty="0"/>
              <a:t>X</a:t>
            </a:r>
          </a:p>
          <a:p>
            <a:r>
              <a:rPr lang="en-US" dirty="0"/>
              <a:t>    if (x &gt; width - 50) {</a:t>
            </a:r>
          </a:p>
          <a:p>
            <a:r>
              <a:rPr lang="en-US" dirty="0"/>
              <a:t>      x = width - 50;</a:t>
            </a:r>
          </a:p>
          <a:p>
            <a:r>
              <a:rPr lang="en-US" dirty="0"/>
              <a:t>      </a:t>
            </a:r>
            <a:r>
              <a:rPr lang="en-US" dirty="0" err="1"/>
              <a:t>vx</a:t>
            </a:r>
            <a:r>
              <a:rPr lang="en-US" dirty="0"/>
              <a:t> = -abs(</a:t>
            </a:r>
            <a:r>
              <a:rPr lang="en-US" dirty="0" err="1"/>
              <a:t>vx</a:t>
            </a:r>
            <a:r>
              <a:rPr lang="en-US" dirty="0"/>
              <a:t>);</a:t>
            </a:r>
          </a:p>
          <a:p>
            <a:r>
              <a:rPr lang="en-US" dirty="0"/>
              <a:t>      </a:t>
            </a:r>
            <a:r>
              <a:rPr lang="en-US" dirty="0" err="1"/>
              <a:t>cFlag</a:t>
            </a:r>
            <a:r>
              <a:rPr lang="en-US" dirty="0"/>
              <a:t> = 1 - </a:t>
            </a:r>
            <a:r>
              <a:rPr lang="en-US" dirty="0" err="1"/>
              <a:t>cFlag</a:t>
            </a:r>
            <a:r>
              <a:rPr lang="en-US" dirty="0"/>
              <a:t>;</a:t>
            </a:r>
          </a:p>
          <a:p>
            <a:r>
              <a:rPr lang="en-US" dirty="0"/>
              <a:t>    } else if (x &lt; 50) {</a:t>
            </a:r>
          </a:p>
          <a:p>
            <a:r>
              <a:rPr lang="en-US" dirty="0"/>
              <a:t>      x = 50;</a:t>
            </a:r>
          </a:p>
          <a:p>
            <a:r>
              <a:rPr lang="en-US" dirty="0"/>
              <a:t>      </a:t>
            </a:r>
            <a:r>
              <a:rPr lang="en-US" dirty="0" err="1"/>
              <a:t>vx</a:t>
            </a:r>
            <a:r>
              <a:rPr lang="en-US" dirty="0"/>
              <a:t> = abs(</a:t>
            </a:r>
            <a:r>
              <a:rPr lang="en-US" dirty="0" err="1"/>
              <a:t>vx</a:t>
            </a:r>
            <a:r>
              <a:rPr lang="en-US" dirty="0"/>
              <a:t>);</a:t>
            </a:r>
          </a:p>
          <a:p>
            <a:r>
              <a:rPr lang="en-US" dirty="0"/>
              <a:t>      </a:t>
            </a:r>
            <a:r>
              <a:rPr lang="en-US" dirty="0" err="1"/>
              <a:t>cFlag</a:t>
            </a:r>
            <a:r>
              <a:rPr lang="en-US" dirty="0"/>
              <a:t> = 1 - </a:t>
            </a:r>
            <a:r>
              <a:rPr lang="en-US" dirty="0" err="1"/>
              <a:t>cFlag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</a:t>
            </a:r>
            <a:r>
              <a:rPr lang="ru-RU" dirty="0"/>
              <a:t>по </a:t>
            </a:r>
            <a:r>
              <a:rPr lang="en-US" dirty="0"/>
              <a:t>Y</a:t>
            </a:r>
          </a:p>
          <a:p>
            <a:r>
              <a:rPr lang="en-US" dirty="0"/>
              <a:t>    if (y &gt; height - 50) {</a:t>
            </a:r>
          </a:p>
          <a:p>
            <a:r>
              <a:rPr lang="en-US" dirty="0"/>
              <a:t>      y = height - 50;</a:t>
            </a:r>
          </a:p>
          <a:p>
            <a:r>
              <a:rPr lang="en-US" dirty="0"/>
              <a:t>      </a:t>
            </a:r>
            <a:r>
              <a:rPr lang="en-US" dirty="0" err="1"/>
              <a:t>vy</a:t>
            </a:r>
            <a:r>
              <a:rPr lang="en-US" dirty="0"/>
              <a:t> = -abs(</a:t>
            </a:r>
            <a:r>
              <a:rPr lang="en-US" dirty="0" err="1"/>
              <a:t>vy</a:t>
            </a:r>
            <a:r>
              <a:rPr lang="en-US" dirty="0"/>
              <a:t>);</a:t>
            </a:r>
          </a:p>
          <a:p>
            <a:r>
              <a:rPr lang="en-US" dirty="0"/>
              <a:t>      d = d * 0.9;</a:t>
            </a:r>
          </a:p>
          <a:p>
            <a:r>
              <a:rPr lang="en-US" dirty="0"/>
              <a:t>    } else if (y &lt; 50) {</a:t>
            </a:r>
          </a:p>
          <a:p>
            <a:r>
              <a:rPr lang="en-US" dirty="0"/>
              <a:t>      y = 50;</a:t>
            </a:r>
          </a:p>
          <a:p>
            <a:r>
              <a:rPr lang="en-US" dirty="0"/>
              <a:t>      </a:t>
            </a:r>
            <a:r>
              <a:rPr lang="en-US" dirty="0" err="1"/>
              <a:t>vy</a:t>
            </a:r>
            <a:r>
              <a:rPr lang="en-US" dirty="0"/>
              <a:t> = abs(</a:t>
            </a:r>
            <a:r>
              <a:rPr lang="en-US" dirty="0" err="1"/>
              <a:t>vy</a:t>
            </a:r>
            <a:r>
              <a:rPr lang="en-US" dirty="0"/>
              <a:t>);</a:t>
            </a:r>
          </a:p>
          <a:p>
            <a:r>
              <a:rPr lang="en-US" dirty="0"/>
              <a:t>      d = d * 0.9;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void show() {</a:t>
            </a:r>
          </a:p>
          <a:p>
            <a:r>
              <a:rPr lang="en-US" dirty="0"/>
              <a:t>    if (</a:t>
            </a:r>
            <a:r>
              <a:rPr lang="en-US" dirty="0" err="1"/>
              <a:t>cFlag</a:t>
            </a:r>
            <a:r>
              <a:rPr lang="en-US" dirty="0"/>
              <a:t> == 0) fill(255, 255, 0);</a:t>
            </a:r>
          </a:p>
          <a:p>
            <a:r>
              <a:rPr lang="en-US" dirty="0"/>
              <a:t>    else            fill(255,   0,255);</a:t>
            </a:r>
          </a:p>
          <a:p>
            <a:endParaRPr lang="en-US" dirty="0"/>
          </a:p>
          <a:p>
            <a:r>
              <a:rPr lang="en-US" dirty="0"/>
              <a:t>    circle(x, y, d*10);                // face</a:t>
            </a:r>
          </a:p>
          <a:p>
            <a:r>
              <a:rPr lang="en-US" dirty="0"/>
              <a:t>    ellipse(x, </a:t>
            </a:r>
            <a:r>
              <a:rPr lang="en-US" dirty="0" err="1"/>
              <a:t>y+d</a:t>
            </a:r>
            <a:r>
              <a:rPr lang="en-US" dirty="0"/>
              <a:t>, d*5, d*4);         // muzzle</a:t>
            </a:r>
          </a:p>
          <a:p>
            <a:endParaRPr lang="en-US" dirty="0"/>
          </a:p>
          <a:p>
            <a:r>
              <a:rPr lang="en-US" dirty="0"/>
              <a:t>    fill(0);</a:t>
            </a:r>
          </a:p>
          <a:p>
            <a:r>
              <a:rPr lang="en-US" dirty="0"/>
              <a:t>    ellipse(x, y-0.5*d, d*2, d);       // nose</a:t>
            </a:r>
          </a:p>
          <a:p>
            <a:r>
              <a:rPr lang="en-US" dirty="0"/>
              <a:t>    circle(</a:t>
            </a:r>
            <a:r>
              <a:rPr lang="en-US" dirty="0" err="1"/>
              <a:t>x+d</a:t>
            </a:r>
            <a:r>
              <a:rPr lang="en-US" dirty="0"/>
              <a:t>*2, y-d*2, 0.5*d);       // right eye</a:t>
            </a:r>
          </a:p>
          <a:p>
            <a:r>
              <a:rPr lang="en-US" dirty="0"/>
              <a:t>    circle(x-d*2, y-d*2, 0.5*d);       // left eye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311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2351C34-71B1-594C-D9DF-51B7CE8497DD}"/>
              </a:ext>
            </a:extLst>
          </p:cNvPr>
          <p:cNvSpPr txBox="1">
            <a:spLocks/>
          </p:cNvSpPr>
          <p:nvPr/>
        </p:nvSpPr>
        <p:spPr>
          <a:xfrm>
            <a:off x="1007533" y="427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Sprint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endParaRPr lang="en-US" dirty="0"/>
          </a:p>
        </p:txBody>
      </p:sp>
      <p:pic>
        <p:nvPicPr>
          <p:cNvPr id="7" name="bandicam 2025-10-16 11-45-21-595">
            <a:hlinkClick r:id="" action="ppaction://media"/>
            <a:extLst>
              <a:ext uri="{FF2B5EF4-FFF2-40B4-BE49-F238E27FC236}">
                <a16:creationId xmlns:a16="http://schemas.microsoft.com/office/drawing/2014/main" id="{577172C3-CD8D-3891-9B2F-6ACB4609A1E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24667" y="1368328"/>
            <a:ext cx="6353705" cy="5001582"/>
          </a:xfrm>
        </p:spPr>
      </p:pic>
    </p:spTree>
    <p:extLst>
      <p:ext uri="{BB962C8B-B14F-4D97-AF65-F5344CB8AC3E}">
        <p14:creationId xmlns:p14="http://schemas.microsoft.com/office/powerpoint/2010/main" val="152497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3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86DA7FE6-6EED-59DC-FF73-1FC9077CE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681"/>
            <a:ext cx="10515600" cy="1325563"/>
          </a:xfrm>
        </p:spPr>
        <p:txBody>
          <a:bodyPr/>
          <a:lstStyle/>
          <a:p>
            <a:r>
              <a:rPr lang="en-US" dirty="0"/>
              <a:t>Sprint 4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FE4CF51-FF51-68B8-2222-F6B4CCC23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Sprint 4 – Convert to OOP</a:t>
            </a:r>
          </a:p>
          <a:p>
            <a:r>
              <a:rPr lang="en-US" dirty="0"/>
              <a:t>Convert the array version into object-oriented form.</a:t>
            </a:r>
            <a:br>
              <a:rPr lang="en-US" dirty="0"/>
            </a:br>
            <a:r>
              <a:rPr lang="en-US" dirty="0"/>
              <a:t>Create classes Pet and </a:t>
            </a:r>
            <a:r>
              <a:rPr lang="en-US" dirty="0" err="1"/>
              <a:t>ArtemDude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Move all data and behavior into each class.</a:t>
            </a:r>
            <a:br>
              <a:rPr lang="en-US" dirty="0"/>
            </a:br>
            <a:r>
              <a:rPr lang="en-US" dirty="0"/>
              <a:t>Replace arrays of values with arrays of objects.</a:t>
            </a:r>
            <a:br>
              <a:rPr lang="en-US" dirty="0"/>
            </a:br>
            <a:r>
              <a:rPr lang="en-US" dirty="0"/>
              <a:t>Goal: make cleaner, structured, and reusable code.</a:t>
            </a:r>
          </a:p>
        </p:txBody>
      </p:sp>
    </p:spTree>
    <p:extLst>
      <p:ext uri="{BB962C8B-B14F-4D97-AF65-F5344CB8AC3E}">
        <p14:creationId xmlns:p14="http://schemas.microsoft.com/office/powerpoint/2010/main" val="161693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F20A0E-47E8-43CB-1958-7D2021BC557A}"/>
              </a:ext>
            </a:extLst>
          </p:cNvPr>
          <p:cNvSpPr txBox="1"/>
          <p:nvPr/>
        </p:nvSpPr>
        <p:spPr>
          <a:xfrm>
            <a:off x="8177188" y="79090"/>
            <a:ext cx="3794785" cy="109260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class Pet {</a:t>
            </a:r>
          </a:p>
          <a:p>
            <a:r>
              <a:rPr lang="en-US" sz="1600" dirty="0"/>
              <a:t>  float x, y;</a:t>
            </a:r>
          </a:p>
          <a:p>
            <a:r>
              <a:rPr lang="en-US" sz="1600" dirty="0"/>
              <a:t>  float d;</a:t>
            </a:r>
          </a:p>
          <a:p>
            <a:r>
              <a:rPr lang="en-US" sz="1600" dirty="0"/>
              <a:t>  float </a:t>
            </a:r>
            <a:r>
              <a:rPr lang="en-US" sz="1600" dirty="0" err="1"/>
              <a:t>vx</a:t>
            </a:r>
            <a:r>
              <a:rPr lang="en-US" sz="1600" dirty="0"/>
              <a:t>, </a:t>
            </a:r>
            <a:r>
              <a:rPr lang="en-US" sz="1600" dirty="0" err="1"/>
              <a:t>vy</a:t>
            </a:r>
            <a:r>
              <a:rPr lang="en-US" sz="1600" dirty="0"/>
              <a:t>;</a:t>
            </a:r>
          </a:p>
          <a:p>
            <a:r>
              <a:rPr lang="en-US" sz="1600" dirty="0"/>
              <a:t>  int </a:t>
            </a:r>
            <a:r>
              <a:rPr lang="en-US" sz="1600" dirty="0" err="1"/>
              <a:t>cFlag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  Pet(float </a:t>
            </a:r>
            <a:r>
              <a:rPr lang="en-US" sz="1600" dirty="0" err="1"/>
              <a:t>startX</a:t>
            </a:r>
            <a:r>
              <a:rPr lang="en-US" sz="1600" dirty="0"/>
              <a:t>, float </a:t>
            </a:r>
            <a:r>
              <a:rPr lang="en-US" sz="1600" dirty="0" err="1"/>
              <a:t>startY</a:t>
            </a:r>
            <a:r>
              <a:rPr lang="en-US" sz="1600" dirty="0"/>
              <a:t>, float </a:t>
            </a:r>
            <a:r>
              <a:rPr lang="en-US" sz="1600" dirty="0" err="1"/>
              <a:t>startD</a:t>
            </a:r>
            <a:r>
              <a:rPr lang="en-US" sz="1600" dirty="0"/>
              <a:t>, float </a:t>
            </a:r>
            <a:r>
              <a:rPr lang="en-US" sz="1600" dirty="0" err="1"/>
              <a:t>startVX</a:t>
            </a:r>
            <a:r>
              <a:rPr lang="en-US" sz="1600" dirty="0"/>
              <a:t>, float </a:t>
            </a:r>
            <a:r>
              <a:rPr lang="en-US" sz="1600" dirty="0" err="1"/>
              <a:t>startVY</a:t>
            </a:r>
            <a:r>
              <a:rPr lang="en-US" sz="1600" dirty="0"/>
              <a:t>, int </a:t>
            </a:r>
            <a:r>
              <a:rPr lang="en-US" sz="1600" dirty="0" err="1"/>
              <a:t>startC</a:t>
            </a:r>
            <a:r>
              <a:rPr lang="en-US" sz="1600" dirty="0"/>
              <a:t>) {</a:t>
            </a:r>
          </a:p>
          <a:p>
            <a:r>
              <a:rPr lang="en-US" sz="1600" dirty="0"/>
              <a:t>    x = </a:t>
            </a:r>
            <a:r>
              <a:rPr lang="en-US" sz="1600" dirty="0" err="1"/>
              <a:t>startX</a:t>
            </a:r>
            <a:r>
              <a:rPr lang="en-US" sz="1600" dirty="0"/>
              <a:t>;</a:t>
            </a:r>
          </a:p>
          <a:p>
            <a:r>
              <a:rPr lang="en-US" sz="1600" dirty="0"/>
              <a:t>    y = </a:t>
            </a:r>
            <a:r>
              <a:rPr lang="en-US" sz="1600" dirty="0" err="1"/>
              <a:t>startY</a:t>
            </a:r>
            <a:r>
              <a:rPr lang="en-US" sz="1600" dirty="0"/>
              <a:t>;</a:t>
            </a:r>
          </a:p>
          <a:p>
            <a:r>
              <a:rPr lang="en-US" sz="1600" dirty="0"/>
              <a:t>    d = </a:t>
            </a:r>
            <a:r>
              <a:rPr lang="en-US" sz="1600" dirty="0" err="1"/>
              <a:t>startD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vx</a:t>
            </a:r>
            <a:r>
              <a:rPr lang="en-US" sz="1600" dirty="0"/>
              <a:t> = </a:t>
            </a:r>
            <a:r>
              <a:rPr lang="en-US" sz="1600" dirty="0" err="1"/>
              <a:t>startVX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vy</a:t>
            </a:r>
            <a:r>
              <a:rPr lang="en-US" sz="1600" dirty="0"/>
              <a:t> = </a:t>
            </a:r>
            <a:r>
              <a:rPr lang="en-US" sz="1600" dirty="0" err="1"/>
              <a:t>startVY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cFlag</a:t>
            </a:r>
            <a:r>
              <a:rPr lang="en-US" sz="1600" dirty="0"/>
              <a:t> = </a:t>
            </a:r>
            <a:r>
              <a:rPr lang="en-US" sz="1600" dirty="0" err="1"/>
              <a:t>startC</a:t>
            </a:r>
            <a:r>
              <a:rPr lang="en-US" sz="1600" dirty="0"/>
              <a:t>;</a:t>
            </a:r>
          </a:p>
          <a:p>
            <a:r>
              <a:rPr lang="en-US" sz="1600" dirty="0"/>
              <a:t>  }</a:t>
            </a:r>
          </a:p>
          <a:p>
            <a:endParaRPr lang="en-US" sz="1600" dirty="0"/>
          </a:p>
          <a:p>
            <a:r>
              <a:rPr lang="en-US" sz="1600" dirty="0"/>
              <a:t>  void move() {</a:t>
            </a:r>
          </a:p>
          <a:p>
            <a:r>
              <a:rPr lang="en-US" sz="1600" dirty="0"/>
              <a:t>    if (x &gt; width - 50 || x &lt; 50) {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vx</a:t>
            </a:r>
            <a:r>
              <a:rPr lang="en-US" sz="1600" dirty="0"/>
              <a:t> = -</a:t>
            </a:r>
            <a:r>
              <a:rPr lang="en-US" sz="1600" dirty="0" err="1"/>
              <a:t>vx</a:t>
            </a:r>
            <a:r>
              <a:rPr lang="en-US" sz="1600" dirty="0"/>
              <a:t>;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cFlag</a:t>
            </a:r>
            <a:r>
              <a:rPr lang="en-US" sz="1600" dirty="0"/>
              <a:t> = (</a:t>
            </a:r>
            <a:r>
              <a:rPr lang="en-US" sz="1600" dirty="0" err="1"/>
              <a:t>cFlag</a:t>
            </a:r>
            <a:r>
              <a:rPr lang="en-US" sz="1600" dirty="0"/>
              <a:t> + 1) % 2;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if (y &gt; height - 50 || y &lt; 50) {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vy</a:t>
            </a:r>
            <a:r>
              <a:rPr lang="en-US" sz="1600" dirty="0"/>
              <a:t> = -</a:t>
            </a:r>
            <a:r>
              <a:rPr lang="en-US" sz="1600" dirty="0" err="1"/>
              <a:t>vy</a:t>
            </a:r>
            <a:r>
              <a:rPr lang="en-US" sz="1600" dirty="0"/>
              <a:t>;</a:t>
            </a:r>
          </a:p>
          <a:p>
            <a:r>
              <a:rPr lang="en-US" sz="1600" dirty="0"/>
              <a:t>      d = d * 0.9;</a:t>
            </a:r>
          </a:p>
          <a:p>
            <a:r>
              <a:rPr lang="en-US" sz="1600" dirty="0"/>
              <a:t>    }</a:t>
            </a:r>
          </a:p>
          <a:p>
            <a:endParaRPr lang="en-US" sz="1600" dirty="0"/>
          </a:p>
          <a:p>
            <a:r>
              <a:rPr lang="en-US" sz="1600" dirty="0"/>
              <a:t>    x += </a:t>
            </a:r>
            <a:r>
              <a:rPr lang="en-US" sz="1600" dirty="0" err="1"/>
              <a:t>vx</a:t>
            </a:r>
            <a:r>
              <a:rPr lang="en-US" sz="1600" dirty="0"/>
              <a:t>;</a:t>
            </a:r>
          </a:p>
          <a:p>
            <a:r>
              <a:rPr lang="en-US" sz="1600" dirty="0"/>
              <a:t>    y += </a:t>
            </a:r>
            <a:r>
              <a:rPr lang="en-US" sz="1600" dirty="0" err="1"/>
              <a:t>vy</a:t>
            </a:r>
            <a:r>
              <a:rPr lang="en-US" sz="1600" dirty="0"/>
              <a:t>;</a:t>
            </a:r>
          </a:p>
          <a:p>
            <a:r>
              <a:rPr lang="en-US" sz="1600" dirty="0"/>
              <a:t>  }</a:t>
            </a:r>
          </a:p>
          <a:p>
            <a:endParaRPr lang="en-US" sz="1600" dirty="0"/>
          </a:p>
          <a:p>
            <a:r>
              <a:rPr lang="en-US" sz="1600" dirty="0"/>
              <a:t>  void show() {</a:t>
            </a:r>
          </a:p>
          <a:p>
            <a:r>
              <a:rPr lang="en-US" sz="1600" dirty="0"/>
              <a:t>    if (</a:t>
            </a:r>
            <a:r>
              <a:rPr lang="en-US" sz="1600" dirty="0" err="1"/>
              <a:t>cFlag</a:t>
            </a:r>
            <a:r>
              <a:rPr lang="en-US" sz="1600" dirty="0"/>
              <a:t> == 0) fill(255, 255, 0);</a:t>
            </a:r>
          </a:p>
          <a:p>
            <a:r>
              <a:rPr lang="en-US" sz="1600" dirty="0"/>
              <a:t>    else            fill(255,   0,255);</a:t>
            </a:r>
          </a:p>
          <a:p>
            <a:endParaRPr lang="en-US" sz="1600" dirty="0"/>
          </a:p>
          <a:p>
            <a:r>
              <a:rPr lang="en-US" sz="1600" dirty="0"/>
              <a:t>    circle(x, y, d*10);                // face</a:t>
            </a:r>
          </a:p>
          <a:p>
            <a:r>
              <a:rPr lang="en-US" sz="1600" dirty="0"/>
              <a:t>    ellipse(x, </a:t>
            </a:r>
            <a:r>
              <a:rPr lang="en-US" sz="1600" dirty="0" err="1"/>
              <a:t>y+d</a:t>
            </a:r>
            <a:r>
              <a:rPr lang="en-US" sz="1600" dirty="0"/>
              <a:t>, d*5, d*4);         // muzzle</a:t>
            </a:r>
          </a:p>
          <a:p>
            <a:endParaRPr lang="en-US" sz="1600" dirty="0"/>
          </a:p>
          <a:p>
            <a:r>
              <a:rPr lang="en-US" sz="1600" dirty="0"/>
              <a:t>    fill(0);</a:t>
            </a:r>
          </a:p>
          <a:p>
            <a:r>
              <a:rPr lang="en-US" sz="1600" dirty="0"/>
              <a:t>    ellipse(x, y-0.5*d, d*2, d);       // nose</a:t>
            </a:r>
          </a:p>
          <a:p>
            <a:r>
              <a:rPr lang="en-US" sz="1600" dirty="0"/>
              <a:t>    circle(</a:t>
            </a:r>
            <a:r>
              <a:rPr lang="en-US" sz="1600" dirty="0" err="1"/>
              <a:t>x+d</a:t>
            </a:r>
            <a:r>
              <a:rPr lang="en-US" sz="1600" dirty="0"/>
              <a:t>*2, y-d*2, 0.5*d);       // right eye</a:t>
            </a:r>
          </a:p>
          <a:p>
            <a:r>
              <a:rPr lang="en-US" sz="1600" dirty="0"/>
              <a:t>    circle(x-d*2, y-d*2, 0.5*d);       // left eye</a:t>
            </a:r>
          </a:p>
          <a:p>
            <a:r>
              <a:rPr lang="en-US" sz="1600" dirty="0"/>
              <a:t>  }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9B60C-3324-FA7E-3FDA-0E972B0FCEA8}"/>
              </a:ext>
            </a:extLst>
          </p:cNvPr>
          <p:cNvSpPr txBox="1"/>
          <p:nvPr/>
        </p:nvSpPr>
        <p:spPr>
          <a:xfrm>
            <a:off x="4576034" y="79090"/>
            <a:ext cx="3490604" cy="165891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class </a:t>
            </a:r>
            <a:r>
              <a:rPr lang="en-US" sz="1600" dirty="0" err="1"/>
              <a:t>ArtemDude</a:t>
            </a:r>
            <a:r>
              <a:rPr lang="en-US" sz="1600" dirty="0"/>
              <a:t> {</a:t>
            </a:r>
          </a:p>
          <a:p>
            <a:r>
              <a:rPr lang="en-US" sz="1600" dirty="0"/>
              <a:t>  float x, y;</a:t>
            </a:r>
          </a:p>
          <a:p>
            <a:r>
              <a:rPr lang="en-US" sz="1600" dirty="0"/>
              <a:t>  float d;</a:t>
            </a:r>
          </a:p>
          <a:p>
            <a:r>
              <a:rPr lang="en-US" sz="1600" dirty="0"/>
              <a:t>  float </a:t>
            </a:r>
            <a:r>
              <a:rPr lang="en-US" sz="1600" dirty="0" err="1"/>
              <a:t>vx</a:t>
            </a:r>
            <a:r>
              <a:rPr lang="en-US" sz="1600" dirty="0"/>
              <a:t>, </a:t>
            </a:r>
            <a:r>
              <a:rPr lang="en-US" sz="1600" dirty="0" err="1"/>
              <a:t>vy</a:t>
            </a:r>
            <a:r>
              <a:rPr lang="en-US" sz="1600" dirty="0"/>
              <a:t>;</a:t>
            </a:r>
          </a:p>
          <a:p>
            <a:r>
              <a:rPr lang="en-US" sz="1600" dirty="0"/>
              <a:t>  int </a:t>
            </a:r>
            <a:r>
              <a:rPr lang="en-US" sz="1600" dirty="0" err="1"/>
              <a:t>cFlag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  </a:t>
            </a:r>
            <a:r>
              <a:rPr lang="en-US" sz="1600" dirty="0" err="1"/>
              <a:t>ArtemDude</a:t>
            </a:r>
            <a:r>
              <a:rPr lang="en-US" sz="1600" dirty="0"/>
              <a:t>(float </a:t>
            </a:r>
            <a:r>
              <a:rPr lang="en-US" sz="1600" dirty="0" err="1"/>
              <a:t>startX</a:t>
            </a:r>
            <a:r>
              <a:rPr lang="en-US" sz="1600" dirty="0"/>
              <a:t>, float </a:t>
            </a:r>
            <a:r>
              <a:rPr lang="en-US" sz="1600" dirty="0" err="1"/>
              <a:t>startY</a:t>
            </a:r>
            <a:r>
              <a:rPr lang="en-US" sz="1600" dirty="0"/>
              <a:t>, float </a:t>
            </a:r>
            <a:r>
              <a:rPr lang="en-US" sz="1600" dirty="0" err="1"/>
              <a:t>startD</a:t>
            </a:r>
            <a:r>
              <a:rPr lang="en-US" sz="1600" dirty="0"/>
              <a:t>, float </a:t>
            </a:r>
            <a:r>
              <a:rPr lang="en-US" sz="1600" dirty="0" err="1"/>
              <a:t>startVX</a:t>
            </a:r>
            <a:r>
              <a:rPr lang="en-US" sz="1600" dirty="0"/>
              <a:t>, float </a:t>
            </a:r>
            <a:r>
              <a:rPr lang="en-US" sz="1600" dirty="0" err="1"/>
              <a:t>startVY</a:t>
            </a:r>
            <a:r>
              <a:rPr lang="en-US" sz="1600" dirty="0"/>
              <a:t>, int </a:t>
            </a:r>
            <a:r>
              <a:rPr lang="en-US" sz="1600" dirty="0" err="1"/>
              <a:t>startC</a:t>
            </a:r>
            <a:r>
              <a:rPr lang="en-US" sz="1600" dirty="0"/>
              <a:t>) {</a:t>
            </a:r>
          </a:p>
          <a:p>
            <a:r>
              <a:rPr lang="en-US" sz="1600" dirty="0"/>
              <a:t>    x = </a:t>
            </a:r>
            <a:r>
              <a:rPr lang="en-US" sz="1600" dirty="0" err="1"/>
              <a:t>startX</a:t>
            </a:r>
            <a:r>
              <a:rPr lang="en-US" sz="1600" dirty="0"/>
              <a:t>;</a:t>
            </a:r>
          </a:p>
          <a:p>
            <a:r>
              <a:rPr lang="en-US" sz="1600" dirty="0"/>
              <a:t>    y = </a:t>
            </a:r>
            <a:r>
              <a:rPr lang="en-US" sz="1600" dirty="0" err="1"/>
              <a:t>startY</a:t>
            </a:r>
            <a:r>
              <a:rPr lang="en-US" sz="1600" dirty="0"/>
              <a:t>;</a:t>
            </a:r>
          </a:p>
          <a:p>
            <a:r>
              <a:rPr lang="en-US" sz="1600" dirty="0"/>
              <a:t>    d = </a:t>
            </a:r>
            <a:r>
              <a:rPr lang="en-US" sz="1600" dirty="0" err="1"/>
              <a:t>startD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vx</a:t>
            </a:r>
            <a:r>
              <a:rPr lang="en-US" sz="1600" dirty="0"/>
              <a:t> = </a:t>
            </a:r>
            <a:r>
              <a:rPr lang="en-US" sz="1600" dirty="0" err="1"/>
              <a:t>startVX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vy</a:t>
            </a:r>
            <a:r>
              <a:rPr lang="en-US" sz="1600" dirty="0"/>
              <a:t> = </a:t>
            </a:r>
            <a:r>
              <a:rPr lang="en-US" sz="1600" dirty="0" err="1"/>
              <a:t>startVY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cFlag</a:t>
            </a:r>
            <a:r>
              <a:rPr lang="en-US" sz="1600" dirty="0"/>
              <a:t> = </a:t>
            </a:r>
            <a:r>
              <a:rPr lang="en-US" sz="1600" dirty="0" err="1"/>
              <a:t>startC</a:t>
            </a:r>
            <a:r>
              <a:rPr lang="en-US" sz="1600" dirty="0"/>
              <a:t>;</a:t>
            </a:r>
          </a:p>
          <a:p>
            <a:r>
              <a:rPr lang="en-US" sz="1600" dirty="0"/>
              <a:t>  }</a:t>
            </a:r>
          </a:p>
          <a:p>
            <a:endParaRPr lang="en-US" sz="1600" dirty="0"/>
          </a:p>
          <a:p>
            <a:r>
              <a:rPr lang="en-US" sz="1600" dirty="0"/>
              <a:t>  void move() {</a:t>
            </a:r>
          </a:p>
          <a:p>
            <a:r>
              <a:rPr lang="en-US" sz="1600" dirty="0"/>
              <a:t>    if (x &gt; width - 50 || x &lt; 50) {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vx</a:t>
            </a:r>
            <a:r>
              <a:rPr lang="en-US" sz="1600" dirty="0"/>
              <a:t> = -</a:t>
            </a:r>
            <a:r>
              <a:rPr lang="en-US" sz="1600" dirty="0" err="1"/>
              <a:t>vx</a:t>
            </a:r>
            <a:r>
              <a:rPr lang="en-US" sz="1600" dirty="0"/>
              <a:t>;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cFlag</a:t>
            </a:r>
            <a:r>
              <a:rPr lang="en-US" sz="1600" dirty="0"/>
              <a:t> = (</a:t>
            </a:r>
            <a:r>
              <a:rPr lang="en-US" sz="1600" dirty="0" err="1"/>
              <a:t>cFlag</a:t>
            </a:r>
            <a:r>
              <a:rPr lang="en-US" sz="1600" dirty="0"/>
              <a:t> + 1) % 2;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if (y &gt; height - 50 || y &lt; 50) {</a:t>
            </a:r>
          </a:p>
          <a:p>
            <a:r>
              <a:rPr lang="en-US" sz="1600" dirty="0"/>
              <a:t>      </a:t>
            </a:r>
            <a:r>
              <a:rPr lang="en-US" sz="1600" dirty="0" err="1"/>
              <a:t>vy</a:t>
            </a:r>
            <a:r>
              <a:rPr lang="en-US" sz="1600" dirty="0"/>
              <a:t> = -</a:t>
            </a:r>
            <a:r>
              <a:rPr lang="en-US" sz="1600" dirty="0" err="1"/>
              <a:t>vy</a:t>
            </a:r>
            <a:r>
              <a:rPr lang="en-US" sz="1600" dirty="0"/>
              <a:t>;</a:t>
            </a:r>
          </a:p>
          <a:p>
            <a:r>
              <a:rPr lang="en-US" sz="1600" dirty="0"/>
              <a:t>      d = d * 0.9;</a:t>
            </a:r>
          </a:p>
          <a:p>
            <a:r>
              <a:rPr lang="en-US" sz="1600" dirty="0"/>
              <a:t>    }</a:t>
            </a:r>
          </a:p>
          <a:p>
            <a:endParaRPr lang="en-US" sz="1600" dirty="0"/>
          </a:p>
          <a:p>
            <a:r>
              <a:rPr lang="en-US" sz="1600" dirty="0"/>
              <a:t>    x += </a:t>
            </a:r>
            <a:r>
              <a:rPr lang="en-US" sz="1600" dirty="0" err="1"/>
              <a:t>vx</a:t>
            </a:r>
            <a:r>
              <a:rPr lang="en-US" sz="1600" dirty="0"/>
              <a:t>;</a:t>
            </a:r>
          </a:p>
          <a:p>
            <a:r>
              <a:rPr lang="en-US" sz="1600" dirty="0"/>
              <a:t>    y += </a:t>
            </a:r>
            <a:r>
              <a:rPr lang="en-US" sz="1600" dirty="0" err="1"/>
              <a:t>vy</a:t>
            </a:r>
            <a:r>
              <a:rPr lang="en-US" sz="1600" dirty="0"/>
              <a:t>;</a:t>
            </a:r>
          </a:p>
          <a:p>
            <a:r>
              <a:rPr lang="en-US" sz="1600" dirty="0"/>
              <a:t>  }</a:t>
            </a:r>
          </a:p>
          <a:p>
            <a:endParaRPr lang="en-US" sz="1600" dirty="0"/>
          </a:p>
          <a:p>
            <a:r>
              <a:rPr lang="en-US" sz="1600" dirty="0"/>
              <a:t>  void show() {</a:t>
            </a:r>
          </a:p>
          <a:p>
            <a:r>
              <a:rPr lang="en-US" sz="1600" dirty="0"/>
              <a:t>    if (</a:t>
            </a:r>
            <a:r>
              <a:rPr lang="en-US" sz="1600" dirty="0" err="1"/>
              <a:t>cFlag</a:t>
            </a:r>
            <a:r>
              <a:rPr lang="en-US" sz="1600" dirty="0"/>
              <a:t> == 0) fill(255);</a:t>
            </a:r>
          </a:p>
          <a:p>
            <a:r>
              <a:rPr lang="en-US" sz="1600" dirty="0"/>
              <a:t>    else            fill(120);</a:t>
            </a:r>
          </a:p>
          <a:p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strokeWeight</a:t>
            </a:r>
            <a:r>
              <a:rPr lang="en-US" sz="1600" dirty="0"/>
              <a:t>(2);</a:t>
            </a:r>
          </a:p>
          <a:p>
            <a:r>
              <a:rPr lang="en-US" sz="1600" dirty="0"/>
              <a:t>    triangle(x-15*d, y+20*d,</a:t>
            </a:r>
          </a:p>
          <a:p>
            <a:r>
              <a:rPr lang="en-US" sz="1600" dirty="0"/>
              <a:t>             x+15*d, y+20*d,</a:t>
            </a:r>
          </a:p>
          <a:p>
            <a:r>
              <a:rPr lang="en-US" sz="1600" dirty="0"/>
              <a:t>             x,      y);          // body</a:t>
            </a:r>
          </a:p>
          <a:p>
            <a:endParaRPr lang="en-US" sz="1600" dirty="0"/>
          </a:p>
          <a:p>
            <a:r>
              <a:rPr lang="en-US" sz="1600" dirty="0"/>
              <a:t>    fill(255);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rect</a:t>
            </a:r>
            <a:r>
              <a:rPr lang="en-US" sz="1600" dirty="0"/>
              <a:t>(x-5*d, y+9*d, 4*d, 2*d);  // left eye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rect</a:t>
            </a:r>
            <a:r>
              <a:rPr lang="en-US" sz="1600" dirty="0"/>
              <a:t>(x+1*d, y+9*d, 4*d, 2*d);  // right eye</a:t>
            </a:r>
          </a:p>
          <a:p>
            <a:endParaRPr lang="en-US" sz="1600" dirty="0"/>
          </a:p>
          <a:p>
            <a:r>
              <a:rPr lang="en-US" sz="1600" dirty="0"/>
              <a:t>    stroke(0);</a:t>
            </a:r>
          </a:p>
          <a:p>
            <a:r>
              <a:rPr lang="en-US" sz="1600" dirty="0"/>
              <a:t>    line(x+1*d,  y+8*d, x+5*d,  y+8*d); // eyebrow right</a:t>
            </a:r>
          </a:p>
          <a:p>
            <a:r>
              <a:rPr lang="en-US" sz="1600" dirty="0"/>
              <a:t>    line(x-5*d,  y+8*d, x-1*d,  y+8*d); // eyebrow left</a:t>
            </a:r>
          </a:p>
          <a:p>
            <a:endParaRPr lang="en-US" sz="1600" dirty="0"/>
          </a:p>
          <a:p>
            <a:r>
              <a:rPr lang="en-US" sz="1600" dirty="0"/>
              <a:t>    fill(40,150,180);</a:t>
            </a:r>
          </a:p>
          <a:p>
            <a:r>
              <a:rPr lang="en-US" sz="1600" dirty="0"/>
              <a:t>    circle(x-2.7*d, y+10*d, 1.4*d);     // pupil left</a:t>
            </a:r>
          </a:p>
          <a:p>
            <a:r>
              <a:rPr lang="en-US" sz="1600" dirty="0"/>
              <a:t>    circle(x+3.4*d, y+10*d, 1.6*d);     // pupil right</a:t>
            </a:r>
          </a:p>
          <a:p>
            <a:endParaRPr lang="en-US" sz="1600" dirty="0"/>
          </a:p>
          <a:p>
            <a:r>
              <a:rPr lang="en-US" sz="1600" dirty="0"/>
              <a:t>    fill(255);</a:t>
            </a:r>
          </a:p>
          <a:p>
            <a:r>
              <a:rPr lang="en-US" sz="1600" dirty="0"/>
              <a:t>    ellipse(x, y+16*d, 8*d, 3*d);       // mouth</a:t>
            </a:r>
          </a:p>
          <a:p>
            <a:endParaRPr lang="en-US" sz="1600" dirty="0"/>
          </a:p>
          <a:p>
            <a:r>
              <a:rPr lang="en-US" sz="1600" dirty="0"/>
              <a:t>    fill(240);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rect</a:t>
            </a:r>
            <a:r>
              <a:rPr lang="en-US" sz="1600" dirty="0"/>
              <a:t>(x-0.5*d, y+14.6*d, 1.5*d, 2*d); // tooth</a:t>
            </a:r>
          </a:p>
          <a:p>
            <a:r>
              <a:rPr lang="en-US" sz="1600" dirty="0"/>
              <a:t>  }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BE48D-5CFD-1CA7-7A39-EC62C97DD5AA}"/>
              </a:ext>
            </a:extLst>
          </p:cNvPr>
          <p:cNvSpPr txBox="1"/>
          <p:nvPr/>
        </p:nvSpPr>
        <p:spPr>
          <a:xfrm>
            <a:off x="138546" y="79090"/>
            <a:ext cx="4207117" cy="1166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int N = 5;</a:t>
            </a:r>
          </a:p>
          <a:p>
            <a:endParaRPr lang="en-US" sz="1600" dirty="0"/>
          </a:p>
          <a:p>
            <a:r>
              <a:rPr lang="en-US" sz="1600" dirty="0"/>
              <a:t>Pet[] pets;</a:t>
            </a:r>
          </a:p>
          <a:p>
            <a:r>
              <a:rPr lang="en-US" sz="1600" dirty="0" err="1"/>
              <a:t>ArtemDude</a:t>
            </a:r>
            <a:r>
              <a:rPr lang="en-US" sz="1600" dirty="0"/>
              <a:t>[] guys;</a:t>
            </a:r>
          </a:p>
          <a:p>
            <a:endParaRPr lang="en-US" sz="1600" dirty="0"/>
          </a:p>
          <a:p>
            <a:r>
              <a:rPr lang="en-US" sz="1600" dirty="0"/>
              <a:t>void setup() {</a:t>
            </a:r>
          </a:p>
          <a:p>
            <a:r>
              <a:rPr lang="en-US" sz="1600" dirty="0"/>
              <a:t>  size(800, 600);</a:t>
            </a:r>
          </a:p>
          <a:p>
            <a:endParaRPr lang="en-US" sz="1600" dirty="0"/>
          </a:p>
          <a:p>
            <a:r>
              <a:rPr lang="en-US" sz="1600" dirty="0"/>
              <a:t>  pets = new Pet[N];</a:t>
            </a:r>
          </a:p>
          <a:p>
            <a:r>
              <a:rPr lang="en-US" sz="1600" dirty="0"/>
              <a:t>  guys = new </a:t>
            </a:r>
            <a:r>
              <a:rPr lang="en-US" sz="1600" dirty="0" err="1"/>
              <a:t>ArtemDude</a:t>
            </a:r>
            <a:r>
              <a:rPr lang="en-US" sz="1600" dirty="0"/>
              <a:t>[N];</a:t>
            </a:r>
          </a:p>
          <a:p>
            <a:endParaRPr lang="en-US" sz="1600" dirty="0"/>
          </a:p>
          <a:p>
            <a:r>
              <a:rPr lang="en-US" sz="1600" dirty="0"/>
              <a:t>  for (int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 N; </a:t>
            </a:r>
            <a:r>
              <a:rPr lang="en-US" sz="1600" dirty="0" err="1"/>
              <a:t>i</a:t>
            </a:r>
            <a:r>
              <a:rPr lang="en-US" sz="1600" dirty="0"/>
              <a:t>++) {</a:t>
            </a:r>
          </a:p>
          <a:p>
            <a:r>
              <a:rPr lang="en-US" sz="1600" dirty="0"/>
              <a:t>    float startX1 = random(width);</a:t>
            </a:r>
          </a:p>
          <a:p>
            <a:r>
              <a:rPr lang="en-US" sz="1600" dirty="0"/>
              <a:t>    float startY1 = random(height);</a:t>
            </a:r>
          </a:p>
          <a:p>
            <a:r>
              <a:rPr lang="en-US" sz="1600" dirty="0"/>
              <a:t>    float startD1 = 10;</a:t>
            </a:r>
          </a:p>
          <a:p>
            <a:r>
              <a:rPr lang="en-US" sz="1600" dirty="0"/>
              <a:t>    int startC1   = 0;</a:t>
            </a:r>
          </a:p>
          <a:p>
            <a:r>
              <a:rPr lang="en-US" sz="1600" dirty="0"/>
              <a:t>    float startVX1 = random(-6, -3);</a:t>
            </a:r>
          </a:p>
          <a:p>
            <a:r>
              <a:rPr lang="en-US" sz="1600" dirty="0"/>
              <a:t>    float startVY1 = random(3, 6);</a:t>
            </a:r>
          </a:p>
          <a:p>
            <a:r>
              <a:rPr lang="en-US" sz="1600" dirty="0"/>
              <a:t>    pets[</a:t>
            </a:r>
            <a:r>
              <a:rPr lang="en-US" sz="1600" dirty="0" err="1"/>
              <a:t>i</a:t>
            </a:r>
            <a:r>
              <a:rPr lang="en-US" sz="1600" dirty="0"/>
              <a:t>] = new Pet(startX1, startY1, startD1, startVX1, startVY1, startC1);</a:t>
            </a:r>
          </a:p>
          <a:p>
            <a:endParaRPr lang="en-US" sz="1600" dirty="0"/>
          </a:p>
          <a:p>
            <a:r>
              <a:rPr lang="en-US" sz="1600" dirty="0"/>
              <a:t>    float startX2 = random(width);</a:t>
            </a:r>
          </a:p>
          <a:p>
            <a:r>
              <a:rPr lang="en-US" sz="1600" dirty="0"/>
              <a:t>    float startY2 = random(height);</a:t>
            </a:r>
          </a:p>
          <a:p>
            <a:r>
              <a:rPr lang="en-US" sz="1600" dirty="0"/>
              <a:t>    float startD2 = 10;</a:t>
            </a:r>
          </a:p>
          <a:p>
            <a:r>
              <a:rPr lang="en-US" sz="1600" dirty="0"/>
              <a:t>    int startC2   = 0;</a:t>
            </a:r>
          </a:p>
          <a:p>
            <a:r>
              <a:rPr lang="en-US" sz="1600" dirty="0"/>
              <a:t>    float startVX2 = random(-6, -3);</a:t>
            </a:r>
          </a:p>
          <a:p>
            <a:r>
              <a:rPr lang="en-US" sz="1600" dirty="0"/>
              <a:t>    float startVY2 = random(3, 6);</a:t>
            </a:r>
          </a:p>
          <a:p>
            <a:r>
              <a:rPr lang="en-US" sz="1600" dirty="0"/>
              <a:t>    guys[</a:t>
            </a:r>
            <a:r>
              <a:rPr lang="en-US" sz="1600" dirty="0" err="1"/>
              <a:t>i</a:t>
            </a:r>
            <a:r>
              <a:rPr lang="en-US" sz="1600" dirty="0"/>
              <a:t>] = new </a:t>
            </a:r>
            <a:r>
              <a:rPr lang="en-US" sz="1600" dirty="0" err="1"/>
              <a:t>ArtemDude</a:t>
            </a:r>
            <a:r>
              <a:rPr lang="en-US" sz="1600" dirty="0"/>
              <a:t>(startX2, startY2, startD2, startVX2, startVY2, startC2);</a:t>
            </a:r>
          </a:p>
          <a:p>
            <a:r>
              <a:rPr lang="en-US" sz="1600" dirty="0"/>
              <a:t>  }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/>
              <a:t>void draw() {</a:t>
            </a:r>
          </a:p>
          <a:p>
            <a:r>
              <a:rPr lang="en-US" sz="1600" dirty="0"/>
              <a:t>  background(50, 80, 20);</a:t>
            </a:r>
          </a:p>
          <a:p>
            <a:endParaRPr lang="en-US" sz="1600" dirty="0"/>
          </a:p>
          <a:p>
            <a:r>
              <a:rPr lang="en-US" sz="1600" dirty="0"/>
              <a:t>  // moving all</a:t>
            </a:r>
          </a:p>
          <a:p>
            <a:r>
              <a:rPr lang="en-US" sz="1600" dirty="0"/>
              <a:t>  for (int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 N; </a:t>
            </a:r>
            <a:r>
              <a:rPr lang="en-US" sz="1600" dirty="0" err="1"/>
              <a:t>i</a:t>
            </a:r>
            <a:r>
              <a:rPr lang="en-US" sz="1600" dirty="0"/>
              <a:t>++) {</a:t>
            </a:r>
          </a:p>
          <a:p>
            <a:r>
              <a:rPr lang="en-US" sz="1600" dirty="0"/>
              <a:t>    pets[</a:t>
            </a:r>
            <a:r>
              <a:rPr lang="en-US" sz="1600" dirty="0" err="1"/>
              <a:t>i</a:t>
            </a:r>
            <a:r>
              <a:rPr lang="en-US" sz="1600" dirty="0"/>
              <a:t>].move();</a:t>
            </a:r>
          </a:p>
          <a:p>
            <a:r>
              <a:rPr lang="en-US" sz="1600" dirty="0"/>
              <a:t>    guys[</a:t>
            </a:r>
            <a:r>
              <a:rPr lang="en-US" sz="1600" dirty="0" err="1"/>
              <a:t>i</a:t>
            </a:r>
            <a:r>
              <a:rPr lang="en-US" sz="1600" dirty="0"/>
              <a:t>].move();</a:t>
            </a:r>
          </a:p>
          <a:p>
            <a:r>
              <a:rPr lang="en-US" sz="1600" dirty="0"/>
              <a:t>  }</a:t>
            </a:r>
          </a:p>
          <a:p>
            <a:endParaRPr lang="en-US" sz="1600" dirty="0"/>
          </a:p>
          <a:p>
            <a:r>
              <a:rPr lang="en-US" sz="1600" dirty="0"/>
              <a:t>  // drawing all</a:t>
            </a:r>
          </a:p>
          <a:p>
            <a:r>
              <a:rPr lang="en-US" sz="1600" dirty="0"/>
              <a:t>  for (int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 N; </a:t>
            </a:r>
            <a:r>
              <a:rPr lang="en-US" sz="1600" dirty="0" err="1"/>
              <a:t>i</a:t>
            </a:r>
            <a:r>
              <a:rPr lang="en-US" sz="1600" dirty="0"/>
              <a:t>++) {</a:t>
            </a:r>
          </a:p>
          <a:p>
            <a:r>
              <a:rPr lang="en-US" sz="1600" dirty="0"/>
              <a:t>    pets[</a:t>
            </a:r>
            <a:r>
              <a:rPr lang="en-US" sz="1600" dirty="0" err="1"/>
              <a:t>i</a:t>
            </a:r>
            <a:r>
              <a:rPr lang="en-US" sz="1600" dirty="0"/>
              <a:t>].show();</a:t>
            </a:r>
          </a:p>
          <a:p>
            <a:r>
              <a:rPr lang="en-US" sz="1600" dirty="0"/>
              <a:t>    guys[</a:t>
            </a:r>
            <a:r>
              <a:rPr lang="en-US" sz="1600" dirty="0" err="1"/>
              <a:t>i</a:t>
            </a:r>
            <a:r>
              <a:rPr lang="en-US" sz="1600" dirty="0"/>
              <a:t>].show();</a:t>
            </a:r>
          </a:p>
          <a:p>
            <a:r>
              <a:rPr lang="en-US" sz="1600" dirty="0"/>
              <a:t>  }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5599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ndicam 2025-10-18 13-39-51-591">
            <a:hlinkClick r:id="" action="ppaction://media"/>
            <a:extLst>
              <a:ext uri="{FF2B5EF4-FFF2-40B4-BE49-F238E27FC236}">
                <a16:creationId xmlns:a16="http://schemas.microsoft.com/office/drawing/2014/main" id="{E0CED3DC-64AC-3CDD-0BD1-09913F69B9A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85768" y="402447"/>
            <a:ext cx="6752156" cy="531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C3A79-40A3-4CDA-BC4E-9DC011F0E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Feeling (and question)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1698DE-F570-CD0C-20B9-BC3F16828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Feeling</a:t>
            </a:r>
          </a:p>
          <a:p>
            <a:pPr lvl="1"/>
            <a:r>
              <a:rPr lang="en-US" dirty="0"/>
              <a:t>Understanding how OOP makes the program cleaner and easier to expand.</a:t>
            </a:r>
          </a:p>
          <a:p>
            <a:pPr lvl="1"/>
            <a:r>
              <a:rPr lang="en-US" dirty="0"/>
              <a:t>Each object moves and draws itself, no more repeated code.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800" dirty="0"/>
              <a:t> Question</a:t>
            </a:r>
          </a:p>
          <a:p>
            <a:pPr lvl="2"/>
            <a:r>
              <a:rPr lang="ru-RU" altLang="ru-RU" sz="2400" dirty="0" err="1"/>
              <a:t>How</a:t>
            </a:r>
            <a:r>
              <a:rPr lang="ru-RU" altLang="ru-RU" sz="2400" dirty="0"/>
              <a:t> </a:t>
            </a:r>
            <a:r>
              <a:rPr lang="ru-RU" altLang="ru-RU" sz="2400" dirty="0" err="1"/>
              <a:t>can</a:t>
            </a:r>
            <a:r>
              <a:rPr lang="ru-RU" altLang="ru-RU" sz="2400" dirty="0"/>
              <a:t> I </a:t>
            </a:r>
            <a:r>
              <a:rPr lang="ru-RU" altLang="ru-RU" sz="2400" dirty="0" err="1"/>
              <a:t>reuse</a:t>
            </a:r>
            <a:r>
              <a:rPr lang="ru-RU" altLang="ru-RU" sz="2400" dirty="0"/>
              <a:t> </a:t>
            </a:r>
            <a:r>
              <a:rPr lang="ru-RU" altLang="ru-RU" sz="2400" dirty="0" err="1"/>
              <a:t>common</a:t>
            </a:r>
            <a:r>
              <a:rPr lang="ru-RU" altLang="ru-RU" sz="2400" dirty="0"/>
              <a:t> </a:t>
            </a:r>
            <a:r>
              <a:rPr lang="ru-RU" altLang="ru-RU" sz="2400" dirty="0" err="1"/>
              <a:t>code</a:t>
            </a:r>
            <a:r>
              <a:rPr lang="ru-RU" altLang="ru-RU" sz="2400" dirty="0"/>
              <a:t> </a:t>
            </a:r>
            <a:r>
              <a:rPr lang="ru-RU" altLang="ru-RU" sz="2400" dirty="0" err="1"/>
              <a:t>for</a:t>
            </a:r>
            <a:r>
              <a:rPr lang="ru-RU" altLang="ru-RU" sz="2400" dirty="0"/>
              <a:t> </a:t>
            </a:r>
            <a:r>
              <a:rPr lang="ru-RU" altLang="ru-RU" sz="2400" dirty="0" err="1"/>
              <a:t>both</a:t>
            </a:r>
            <a:r>
              <a:rPr lang="ru-RU" altLang="ru-RU" sz="2400" dirty="0"/>
              <a:t> </a:t>
            </a:r>
            <a:r>
              <a:rPr lang="ru-RU" altLang="ru-RU" sz="2400" dirty="0" err="1"/>
              <a:t>classes</a:t>
            </a:r>
            <a:r>
              <a:rPr lang="ru-RU" altLang="ru-RU" sz="2400" dirty="0"/>
              <a:t> </a:t>
            </a:r>
            <a:r>
              <a:rPr lang="ru-RU" altLang="ru-RU" sz="2400" dirty="0" err="1"/>
              <a:t>without</a:t>
            </a:r>
            <a:r>
              <a:rPr lang="ru-RU" altLang="ru-RU" sz="2400" dirty="0"/>
              <a:t> </a:t>
            </a:r>
            <a:r>
              <a:rPr lang="ru-RU" altLang="ru-RU" sz="2400" dirty="0" err="1"/>
              <a:t>repeating</a:t>
            </a:r>
            <a:r>
              <a:rPr lang="ru-RU" altLang="ru-RU" sz="2400" dirty="0"/>
              <a:t> </a:t>
            </a:r>
            <a:r>
              <a:rPr lang="ru-RU" altLang="ru-RU" sz="2400" dirty="0" err="1">
                <a:cs typeface="Arial" panose="020B0604020202020204" pitchFamily="34" charset="0"/>
              </a:rPr>
              <a:t>move</a:t>
            </a:r>
            <a:r>
              <a:rPr lang="ru-RU" altLang="ru-RU" sz="2400" dirty="0">
                <a:cs typeface="Arial" panose="020B0604020202020204" pitchFamily="34" charset="0"/>
              </a:rPr>
              <a:t>()?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8530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73617-B1F7-EA8A-E9F9-035CC9F3C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38548B-598F-0B60-5E46-A73376A74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970" y="1409164"/>
            <a:ext cx="10515600" cy="4720031"/>
          </a:xfrm>
        </p:spPr>
        <p:txBody>
          <a:bodyPr>
            <a:normAutofit lnSpcReduction="10000"/>
          </a:bodyPr>
          <a:lstStyle/>
          <a:p>
            <a:r>
              <a:rPr lang="en-US" altLang="ko-KR" sz="2400" dirty="0"/>
              <a:t>What would you do if you added Sprint 5? Write down your idea and you'll get a bonus of up to 5 points. Implementing it will earn you a bonus of up to 5 points.</a:t>
            </a:r>
            <a:br>
              <a:rPr lang="ru-RU" altLang="ko-KR" sz="2400" dirty="0"/>
            </a:br>
            <a:endParaRPr lang="ru-RU" altLang="ko-KR" sz="2400" dirty="0"/>
          </a:p>
          <a:p>
            <a:r>
              <a:rPr lang="en-US" sz="2400" dirty="0"/>
              <a:t>Idea:</a:t>
            </a:r>
            <a:r>
              <a:rPr lang="ru-RU" sz="2400" dirty="0"/>
              <a:t> </a:t>
            </a:r>
            <a:r>
              <a:rPr lang="en-US" sz="2400" dirty="0"/>
              <a:t>I would add random color or speed changes every time an object bounces off a wall.</a:t>
            </a:r>
            <a:r>
              <a:rPr lang="ru-RU" sz="2400" dirty="0"/>
              <a:t> </a:t>
            </a:r>
            <a:r>
              <a:rPr lang="en-US" sz="2400" dirty="0"/>
              <a:t>It would make the movement look more dynamic and unpredictable.</a:t>
            </a:r>
            <a:endParaRPr lang="ru-RU" sz="2400" dirty="0"/>
          </a:p>
          <a:p>
            <a:r>
              <a:rPr lang="en-US" sz="2400" dirty="0"/>
              <a:t>Extra – Random speed and color</a:t>
            </a:r>
          </a:p>
          <a:p>
            <a:r>
              <a:rPr lang="en-US" sz="2400" dirty="0"/>
              <a:t>Add random color and random speed when bouncing.</a:t>
            </a:r>
            <a:br>
              <a:rPr lang="en-US" sz="2400" dirty="0"/>
            </a:br>
            <a:r>
              <a:rPr lang="en-US" sz="2400" dirty="0"/>
              <a:t>Characters now move in a more dynamic and natural way.</a:t>
            </a:r>
            <a:br>
              <a:rPr lang="en-US" sz="2400" dirty="0"/>
            </a:br>
            <a:r>
              <a:rPr lang="en-US" sz="2400" dirty="0"/>
              <a:t>Code stays short thanks to the OOP structure.</a:t>
            </a:r>
            <a:br>
              <a:rPr lang="en-US" sz="2400" dirty="0"/>
            </a:br>
            <a:r>
              <a:rPr lang="en-US" sz="2400" dirty="0"/>
              <a:t>This became Sprint 5 extension.</a:t>
            </a:r>
            <a:br>
              <a:rPr lang="en-US" sz="2400" dirty="0"/>
            </a:br>
            <a:r>
              <a:rPr lang="en-US" sz="2400" dirty="0"/>
              <a:t>Goal: make the animation more interesting and lively.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2808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46EA-BA0C-660C-DD68-FE1FD57F7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5</a:t>
            </a:r>
            <a:endParaRPr lang="ru-RU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8FEF31C-F2DB-F3A6-0D03-D8D64D8EA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448" y="2203343"/>
            <a:ext cx="898528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Sprint 5 – OOP </a:t>
            </a:r>
            <a:r>
              <a:rPr kumimoji="0" lang="ru-RU" altLang="ru-RU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Conversion</a:t>
            </a:r>
            <a:endParaRPr kumimoji="0" lang="ru-RU" altLang="ru-RU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Replaced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arrays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with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arrays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[],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ArtemDude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[]).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Each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stores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own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x, y,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vx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vy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cFlag</a:t>
            </a:r>
            <a:r>
              <a:rPr lang="en-US" altLang="ru-RU" sz="2800" dirty="0"/>
              <a:t>)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Movement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drawing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now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methods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Added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random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color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speed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bounce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6164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334C86-5AA2-A3CD-6B32-973EE3BE155D}"/>
              </a:ext>
            </a:extLst>
          </p:cNvPr>
          <p:cNvSpPr txBox="1"/>
          <p:nvPr/>
        </p:nvSpPr>
        <p:spPr>
          <a:xfrm>
            <a:off x="226338" y="477523"/>
            <a:ext cx="363044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 N = 5;</a:t>
            </a:r>
          </a:p>
          <a:p>
            <a:r>
              <a:rPr lang="en-US" dirty="0"/>
              <a:t>float SPEED_MIN = 2;</a:t>
            </a:r>
          </a:p>
          <a:p>
            <a:r>
              <a:rPr lang="en-US" dirty="0"/>
              <a:t>float SPEED_MAX = 9;</a:t>
            </a:r>
          </a:p>
          <a:p>
            <a:endParaRPr lang="en-US" dirty="0"/>
          </a:p>
          <a:p>
            <a:r>
              <a:rPr lang="en-US" dirty="0"/>
              <a:t>Pet[] pets;</a:t>
            </a:r>
          </a:p>
          <a:p>
            <a:r>
              <a:rPr lang="en-US" dirty="0" err="1"/>
              <a:t>ArtemDude</a:t>
            </a:r>
            <a:r>
              <a:rPr lang="en-US" dirty="0"/>
              <a:t>[] guys;</a:t>
            </a:r>
          </a:p>
          <a:p>
            <a:endParaRPr lang="en-US" dirty="0"/>
          </a:p>
          <a:p>
            <a:r>
              <a:rPr lang="en-US" dirty="0"/>
              <a:t>void setup() {</a:t>
            </a:r>
          </a:p>
          <a:p>
            <a:r>
              <a:rPr lang="en-US" dirty="0"/>
              <a:t>  size(800, 600);</a:t>
            </a:r>
          </a:p>
          <a:p>
            <a:r>
              <a:rPr lang="en-US" dirty="0"/>
              <a:t>  pets = new Pet[N];</a:t>
            </a:r>
          </a:p>
          <a:p>
            <a:r>
              <a:rPr lang="en-US" dirty="0"/>
              <a:t>  guys = new </a:t>
            </a:r>
            <a:r>
              <a:rPr lang="en-US" dirty="0" err="1"/>
              <a:t>ArtemDude</a:t>
            </a:r>
            <a:r>
              <a:rPr lang="en-US" dirty="0"/>
              <a:t>[N];</a:t>
            </a:r>
          </a:p>
          <a:p>
            <a:endParaRPr lang="en-US" dirty="0"/>
          </a:p>
          <a:p>
            <a:r>
              <a:rPr lang="en-US" dirty="0"/>
              <a:t>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float x1 = random(width);</a:t>
            </a:r>
          </a:p>
          <a:p>
            <a:r>
              <a:rPr lang="en-US" dirty="0"/>
              <a:t>    float y1 = random(height);</a:t>
            </a:r>
          </a:p>
          <a:p>
            <a:r>
              <a:rPr lang="en-US" dirty="0"/>
              <a:t>    float d1 = 10;</a:t>
            </a:r>
          </a:p>
          <a:p>
            <a:r>
              <a:rPr lang="en-US" dirty="0"/>
              <a:t>    int c1 = 0;</a:t>
            </a:r>
          </a:p>
          <a:p>
            <a:r>
              <a:rPr lang="en-US" dirty="0"/>
              <a:t>    float vx1 = random(-6, -3);</a:t>
            </a:r>
          </a:p>
          <a:p>
            <a:r>
              <a:rPr lang="en-US" dirty="0"/>
              <a:t>    float vy1 = random(3, 6);</a:t>
            </a:r>
          </a:p>
          <a:p>
            <a:r>
              <a:rPr lang="en-US" dirty="0"/>
              <a:t>    pets[</a:t>
            </a:r>
            <a:r>
              <a:rPr lang="en-US" dirty="0" err="1"/>
              <a:t>i</a:t>
            </a:r>
            <a:r>
              <a:rPr lang="en-US" dirty="0"/>
              <a:t>] = new Pet(x1, y1, d1, vx1, vy1, c1);</a:t>
            </a:r>
          </a:p>
          <a:p>
            <a:endParaRPr lang="en-US" dirty="0"/>
          </a:p>
          <a:p>
            <a:r>
              <a:rPr lang="en-US" dirty="0"/>
              <a:t>    float x2 = random(width);</a:t>
            </a:r>
          </a:p>
          <a:p>
            <a:r>
              <a:rPr lang="en-US" dirty="0"/>
              <a:t>    float y2 = random(height);</a:t>
            </a:r>
          </a:p>
          <a:p>
            <a:r>
              <a:rPr lang="en-US" dirty="0"/>
              <a:t>    float d2 = 10;</a:t>
            </a:r>
          </a:p>
          <a:p>
            <a:r>
              <a:rPr lang="en-US" dirty="0"/>
              <a:t>    int c2 = 0;</a:t>
            </a:r>
          </a:p>
          <a:p>
            <a:r>
              <a:rPr lang="en-US" dirty="0"/>
              <a:t>    float vx2 = random(-6, -3);</a:t>
            </a:r>
          </a:p>
          <a:p>
            <a:r>
              <a:rPr lang="en-US" dirty="0"/>
              <a:t>    float vy2 = random(3, 6);</a:t>
            </a:r>
          </a:p>
          <a:p>
            <a:r>
              <a:rPr lang="en-US" dirty="0"/>
              <a:t>    guys[</a:t>
            </a:r>
            <a:r>
              <a:rPr lang="en-US" dirty="0" err="1"/>
              <a:t>i</a:t>
            </a:r>
            <a:r>
              <a:rPr lang="en-US" dirty="0"/>
              <a:t>] = new </a:t>
            </a:r>
            <a:r>
              <a:rPr lang="en-US" dirty="0" err="1"/>
              <a:t>ArtemDude</a:t>
            </a:r>
            <a:r>
              <a:rPr lang="en-US" dirty="0"/>
              <a:t>(x2, y2, d2, vx2, vy2, c2);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void draw() {</a:t>
            </a:r>
          </a:p>
          <a:p>
            <a:r>
              <a:rPr lang="en-US" dirty="0"/>
              <a:t>  background(50,80,20);</a:t>
            </a:r>
          </a:p>
          <a:p>
            <a:r>
              <a:rPr lang="en-US" dirty="0"/>
              <a:t>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pets[</a:t>
            </a:r>
            <a:r>
              <a:rPr lang="en-US" dirty="0" err="1"/>
              <a:t>i</a:t>
            </a:r>
            <a:r>
              <a:rPr lang="en-US" dirty="0"/>
              <a:t>].move();</a:t>
            </a:r>
          </a:p>
          <a:p>
            <a:r>
              <a:rPr lang="en-US" dirty="0"/>
              <a:t>    guys[</a:t>
            </a:r>
            <a:r>
              <a:rPr lang="en-US" dirty="0" err="1"/>
              <a:t>i</a:t>
            </a:r>
            <a:r>
              <a:rPr lang="en-US" dirty="0"/>
              <a:t>].move();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pets[</a:t>
            </a:r>
            <a:r>
              <a:rPr lang="en-US" dirty="0" err="1"/>
              <a:t>i</a:t>
            </a:r>
            <a:r>
              <a:rPr lang="en-US" dirty="0"/>
              <a:t>].show();</a:t>
            </a:r>
          </a:p>
          <a:p>
            <a:r>
              <a:rPr lang="en-US" dirty="0"/>
              <a:t>    guys[</a:t>
            </a:r>
            <a:r>
              <a:rPr lang="en-US" dirty="0" err="1"/>
              <a:t>i</a:t>
            </a:r>
            <a:r>
              <a:rPr lang="en-US" dirty="0"/>
              <a:t>].show();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89458-C89B-7BC9-6321-26E3CF84082A}"/>
              </a:ext>
            </a:extLst>
          </p:cNvPr>
          <p:cNvSpPr txBox="1"/>
          <p:nvPr/>
        </p:nvSpPr>
        <p:spPr>
          <a:xfrm>
            <a:off x="3927697" y="457105"/>
            <a:ext cx="3630440" cy="1643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ArtemDude</a:t>
            </a:r>
            <a:r>
              <a:rPr lang="en-US" dirty="0"/>
              <a:t> {</a:t>
            </a:r>
          </a:p>
          <a:p>
            <a:r>
              <a:rPr lang="en-US" dirty="0"/>
              <a:t>  float x, y, d, </a:t>
            </a:r>
            <a:r>
              <a:rPr lang="en-US" dirty="0" err="1"/>
              <a:t>vx</a:t>
            </a:r>
            <a:r>
              <a:rPr lang="en-US" dirty="0"/>
              <a:t>, 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r>
              <a:rPr lang="en-US" dirty="0"/>
              <a:t>  int </a:t>
            </a:r>
            <a:r>
              <a:rPr lang="en-US" dirty="0" err="1"/>
              <a:t>cFlag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ArtemDude</a:t>
            </a:r>
            <a:r>
              <a:rPr lang="en-US" dirty="0"/>
              <a:t>(float </a:t>
            </a:r>
            <a:r>
              <a:rPr lang="en-US" dirty="0" err="1"/>
              <a:t>sx</a:t>
            </a:r>
            <a:r>
              <a:rPr lang="en-US" dirty="0"/>
              <a:t>, float </a:t>
            </a:r>
            <a:r>
              <a:rPr lang="en-US" dirty="0" err="1"/>
              <a:t>sy</a:t>
            </a:r>
            <a:r>
              <a:rPr lang="en-US" dirty="0"/>
              <a:t>, float </a:t>
            </a:r>
            <a:r>
              <a:rPr lang="en-US" dirty="0" err="1"/>
              <a:t>sd</a:t>
            </a:r>
            <a:r>
              <a:rPr lang="en-US" dirty="0"/>
              <a:t>, float </a:t>
            </a:r>
            <a:r>
              <a:rPr lang="en-US" dirty="0" err="1"/>
              <a:t>svx</a:t>
            </a:r>
            <a:r>
              <a:rPr lang="en-US" dirty="0"/>
              <a:t>, float </a:t>
            </a:r>
            <a:r>
              <a:rPr lang="en-US" dirty="0" err="1"/>
              <a:t>svy</a:t>
            </a:r>
            <a:r>
              <a:rPr lang="en-US" dirty="0"/>
              <a:t>, int </a:t>
            </a:r>
            <a:r>
              <a:rPr lang="en-US" dirty="0" err="1"/>
              <a:t>sc</a:t>
            </a:r>
            <a:r>
              <a:rPr lang="en-US" dirty="0"/>
              <a:t>) {</a:t>
            </a:r>
          </a:p>
          <a:p>
            <a:r>
              <a:rPr lang="en-US" dirty="0"/>
              <a:t>    x = </a:t>
            </a:r>
            <a:r>
              <a:rPr lang="en-US" dirty="0" err="1"/>
              <a:t>sx</a:t>
            </a:r>
            <a:r>
              <a:rPr lang="en-US" dirty="0"/>
              <a:t>; y = </a:t>
            </a:r>
            <a:r>
              <a:rPr lang="en-US" dirty="0" err="1"/>
              <a:t>sy</a:t>
            </a:r>
            <a:r>
              <a:rPr lang="en-US" dirty="0"/>
              <a:t>; d = </a:t>
            </a:r>
            <a:r>
              <a:rPr lang="en-US" dirty="0" err="1"/>
              <a:t>sd</a:t>
            </a:r>
            <a:r>
              <a:rPr lang="en-US" dirty="0"/>
              <a:t>; </a:t>
            </a:r>
            <a:r>
              <a:rPr lang="en-US" dirty="0" err="1"/>
              <a:t>vx</a:t>
            </a:r>
            <a:r>
              <a:rPr lang="en-US" dirty="0"/>
              <a:t> = </a:t>
            </a:r>
            <a:r>
              <a:rPr lang="en-US" dirty="0" err="1"/>
              <a:t>svx</a:t>
            </a:r>
            <a:r>
              <a:rPr lang="en-US" dirty="0"/>
              <a:t>; </a:t>
            </a:r>
            <a:r>
              <a:rPr lang="en-US" dirty="0" err="1"/>
              <a:t>vy</a:t>
            </a:r>
            <a:r>
              <a:rPr lang="en-US" dirty="0"/>
              <a:t> = </a:t>
            </a:r>
            <a:r>
              <a:rPr lang="en-US" dirty="0" err="1"/>
              <a:t>svy</a:t>
            </a:r>
            <a:r>
              <a:rPr lang="en-US" dirty="0"/>
              <a:t>; </a:t>
            </a:r>
            <a:r>
              <a:rPr lang="en-US" dirty="0" err="1"/>
              <a:t>cFlag</a:t>
            </a:r>
            <a:r>
              <a:rPr lang="en-US" dirty="0"/>
              <a:t> = </a:t>
            </a:r>
            <a:r>
              <a:rPr lang="en-US" dirty="0" err="1"/>
              <a:t>sc</a:t>
            </a:r>
            <a:r>
              <a:rPr lang="en-US" dirty="0"/>
              <a:t>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void move() {</a:t>
            </a:r>
          </a:p>
          <a:p>
            <a:r>
              <a:rPr lang="en-US" dirty="0"/>
              <a:t>    if (x &gt; width - 50 || x &lt; 50) {</a:t>
            </a:r>
          </a:p>
          <a:p>
            <a:r>
              <a:rPr lang="en-US" dirty="0"/>
              <a:t>      </a:t>
            </a:r>
            <a:r>
              <a:rPr lang="en-US" dirty="0" err="1"/>
              <a:t>vx</a:t>
            </a:r>
            <a:r>
              <a:rPr lang="en-US" dirty="0"/>
              <a:t> = -</a:t>
            </a:r>
            <a:r>
              <a:rPr lang="en-US" dirty="0" err="1"/>
              <a:t>vx</a:t>
            </a:r>
            <a:r>
              <a:rPr lang="en-US" dirty="0"/>
              <a:t>;</a:t>
            </a:r>
          </a:p>
          <a:p>
            <a:r>
              <a:rPr lang="en-US" dirty="0"/>
              <a:t>      </a:t>
            </a:r>
            <a:r>
              <a:rPr lang="en-US" dirty="0" err="1"/>
              <a:t>cFlag</a:t>
            </a:r>
            <a:r>
              <a:rPr lang="en-US" dirty="0"/>
              <a:t> = int(random(2));</a:t>
            </a:r>
          </a:p>
          <a:p>
            <a:r>
              <a:rPr lang="en-US" dirty="0"/>
              <a:t>      </a:t>
            </a:r>
            <a:r>
              <a:rPr lang="en-US" dirty="0" err="1"/>
              <a:t>vx</a:t>
            </a:r>
            <a:r>
              <a:rPr lang="en-US" dirty="0"/>
              <a:t> *= random(0.8, 1.3);</a:t>
            </a:r>
          </a:p>
          <a:p>
            <a:r>
              <a:rPr lang="en-US" dirty="0"/>
              <a:t>      if (abs(</a:t>
            </a:r>
            <a:r>
              <a:rPr lang="en-US" dirty="0" err="1"/>
              <a:t>vx</a:t>
            </a:r>
            <a:r>
              <a:rPr lang="en-US" dirty="0"/>
              <a:t>) &lt; SPEED_MIN) </a:t>
            </a:r>
            <a:r>
              <a:rPr lang="en-US" dirty="0" err="1"/>
              <a:t>vx</a:t>
            </a:r>
            <a:r>
              <a:rPr lang="en-US" dirty="0"/>
              <a:t> = SPEED_MIN * sign(</a:t>
            </a:r>
            <a:r>
              <a:rPr lang="en-US" dirty="0" err="1"/>
              <a:t>vx</a:t>
            </a:r>
            <a:r>
              <a:rPr lang="en-US" dirty="0"/>
              <a:t>);</a:t>
            </a:r>
          </a:p>
          <a:p>
            <a:r>
              <a:rPr lang="en-US" dirty="0"/>
              <a:t>      if (abs(</a:t>
            </a:r>
            <a:r>
              <a:rPr lang="en-US" dirty="0" err="1"/>
              <a:t>vx</a:t>
            </a:r>
            <a:r>
              <a:rPr lang="en-US" dirty="0"/>
              <a:t>) &gt; SPEED_MAX) </a:t>
            </a:r>
            <a:r>
              <a:rPr lang="en-US" dirty="0" err="1"/>
              <a:t>vx</a:t>
            </a:r>
            <a:r>
              <a:rPr lang="en-US" dirty="0"/>
              <a:t> = SPEED_MAX * sign(</a:t>
            </a:r>
            <a:r>
              <a:rPr lang="en-US" dirty="0" err="1"/>
              <a:t>vx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if (y &gt; height - 50 || y &lt; 50) {</a:t>
            </a:r>
          </a:p>
          <a:p>
            <a:r>
              <a:rPr lang="en-US" dirty="0"/>
              <a:t>      </a:t>
            </a:r>
            <a:r>
              <a:rPr lang="en-US" dirty="0" err="1"/>
              <a:t>vy</a:t>
            </a:r>
            <a:r>
              <a:rPr lang="en-US" dirty="0"/>
              <a:t> = -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r>
              <a:rPr lang="en-US" dirty="0"/>
              <a:t>      d *= 0.9;</a:t>
            </a:r>
          </a:p>
          <a:p>
            <a:r>
              <a:rPr lang="en-US" dirty="0"/>
              <a:t>      </a:t>
            </a:r>
            <a:r>
              <a:rPr lang="en-US" dirty="0" err="1"/>
              <a:t>cFlag</a:t>
            </a:r>
            <a:r>
              <a:rPr lang="en-US" dirty="0"/>
              <a:t> = int(random(2));</a:t>
            </a:r>
          </a:p>
          <a:p>
            <a:r>
              <a:rPr lang="en-US" dirty="0"/>
              <a:t>      </a:t>
            </a:r>
            <a:r>
              <a:rPr lang="en-US" dirty="0" err="1"/>
              <a:t>vy</a:t>
            </a:r>
            <a:r>
              <a:rPr lang="en-US" dirty="0"/>
              <a:t> *= random(0.8, 1.3);</a:t>
            </a:r>
          </a:p>
          <a:p>
            <a:r>
              <a:rPr lang="en-US" dirty="0"/>
              <a:t>      if (abs(</a:t>
            </a:r>
            <a:r>
              <a:rPr lang="en-US" dirty="0" err="1"/>
              <a:t>vy</a:t>
            </a:r>
            <a:r>
              <a:rPr lang="en-US" dirty="0"/>
              <a:t>) &lt; SPEED_MIN) </a:t>
            </a:r>
            <a:r>
              <a:rPr lang="en-US" dirty="0" err="1"/>
              <a:t>vy</a:t>
            </a:r>
            <a:r>
              <a:rPr lang="en-US" dirty="0"/>
              <a:t> = SPEED_MIN * sign(</a:t>
            </a:r>
            <a:r>
              <a:rPr lang="en-US" dirty="0" err="1"/>
              <a:t>vy</a:t>
            </a:r>
            <a:r>
              <a:rPr lang="en-US" dirty="0"/>
              <a:t>);</a:t>
            </a:r>
          </a:p>
          <a:p>
            <a:r>
              <a:rPr lang="en-US" dirty="0"/>
              <a:t>      if (abs(</a:t>
            </a:r>
            <a:r>
              <a:rPr lang="en-US" dirty="0" err="1"/>
              <a:t>vy</a:t>
            </a:r>
            <a:r>
              <a:rPr lang="en-US" dirty="0"/>
              <a:t>) &gt; SPEED_MAX) </a:t>
            </a:r>
            <a:r>
              <a:rPr lang="en-US" dirty="0" err="1"/>
              <a:t>vy</a:t>
            </a:r>
            <a:r>
              <a:rPr lang="en-US" dirty="0"/>
              <a:t> = SPEED_MAX * sign(</a:t>
            </a:r>
            <a:r>
              <a:rPr lang="en-US" dirty="0" err="1"/>
              <a:t>vy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x += </a:t>
            </a:r>
            <a:r>
              <a:rPr lang="en-US" dirty="0" err="1"/>
              <a:t>vx</a:t>
            </a:r>
            <a:r>
              <a:rPr lang="en-US" dirty="0"/>
              <a:t>;</a:t>
            </a:r>
          </a:p>
          <a:p>
            <a:r>
              <a:rPr lang="en-US" dirty="0"/>
              <a:t>    y += 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void show() {</a:t>
            </a:r>
          </a:p>
          <a:p>
            <a:r>
              <a:rPr lang="en-US" dirty="0"/>
              <a:t>    if (</a:t>
            </a:r>
            <a:r>
              <a:rPr lang="en-US" dirty="0" err="1"/>
              <a:t>cFlag</a:t>
            </a:r>
            <a:r>
              <a:rPr lang="en-US" dirty="0"/>
              <a:t> == 0) fill(255);</a:t>
            </a:r>
          </a:p>
          <a:p>
            <a:r>
              <a:rPr lang="en-US" dirty="0"/>
              <a:t>    else fill(120);</a:t>
            </a:r>
          </a:p>
          <a:p>
            <a:r>
              <a:rPr lang="en-US" dirty="0"/>
              <a:t>    </a:t>
            </a:r>
            <a:r>
              <a:rPr lang="en-US" dirty="0" err="1"/>
              <a:t>strokeWeight</a:t>
            </a:r>
            <a:r>
              <a:rPr lang="en-US" dirty="0"/>
              <a:t>(2);</a:t>
            </a:r>
          </a:p>
          <a:p>
            <a:r>
              <a:rPr lang="en-US" dirty="0"/>
              <a:t>    triangle(x-15*d,y+20*d,x+15*d,y+20*</a:t>
            </a:r>
            <a:r>
              <a:rPr lang="en-US" dirty="0" err="1"/>
              <a:t>d,x,y</a:t>
            </a:r>
            <a:r>
              <a:rPr lang="en-US" dirty="0"/>
              <a:t>);</a:t>
            </a:r>
          </a:p>
          <a:p>
            <a:r>
              <a:rPr lang="en-US" dirty="0"/>
              <a:t>    fill(255);</a:t>
            </a:r>
          </a:p>
          <a:p>
            <a:r>
              <a:rPr lang="en-US" dirty="0"/>
              <a:t>    </a:t>
            </a:r>
            <a:r>
              <a:rPr lang="en-US" dirty="0" err="1"/>
              <a:t>rect</a:t>
            </a:r>
            <a:r>
              <a:rPr lang="en-US" dirty="0"/>
              <a:t>(x-5*d,y+9*d,4*d,2*d);</a:t>
            </a:r>
          </a:p>
          <a:p>
            <a:r>
              <a:rPr lang="en-US" dirty="0"/>
              <a:t>    </a:t>
            </a:r>
            <a:r>
              <a:rPr lang="en-US" dirty="0" err="1"/>
              <a:t>rect</a:t>
            </a:r>
            <a:r>
              <a:rPr lang="en-US" dirty="0"/>
              <a:t>(x+1*d,y+9*d,4*d,2*d);</a:t>
            </a:r>
          </a:p>
          <a:p>
            <a:r>
              <a:rPr lang="en-US" dirty="0"/>
              <a:t>    stroke(0);</a:t>
            </a:r>
          </a:p>
          <a:p>
            <a:r>
              <a:rPr lang="en-US" dirty="0"/>
              <a:t>    line(x+1*d,y+8*d,x+5*d,y+8*d);</a:t>
            </a:r>
          </a:p>
          <a:p>
            <a:r>
              <a:rPr lang="en-US" dirty="0"/>
              <a:t>    line(x-5*d,y+8*d,x-1*d,y+8*d);</a:t>
            </a:r>
          </a:p>
          <a:p>
            <a:r>
              <a:rPr lang="en-US" dirty="0"/>
              <a:t>    fill(40,150,180);</a:t>
            </a:r>
          </a:p>
          <a:p>
            <a:r>
              <a:rPr lang="en-US" dirty="0"/>
              <a:t>    circle(x-2.7*d,y+10*d,1.4*d);</a:t>
            </a:r>
          </a:p>
          <a:p>
            <a:r>
              <a:rPr lang="en-US" dirty="0"/>
              <a:t>    circle(x+3.4*d,y+10*d,1.6*d);</a:t>
            </a:r>
          </a:p>
          <a:p>
            <a:r>
              <a:rPr lang="en-US" dirty="0"/>
              <a:t>    fill(255);</a:t>
            </a:r>
          </a:p>
          <a:p>
            <a:r>
              <a:rPr lang="en-US" dirty="0"/>
              <a:t>    ellipse(x,y+16*d,8*d,3*d);</a:t>
            </a:r>
          </a:p>
          <a:p>
            <a:r>
              <a:rPr lang="en-US" dirty="0"/>
              <a:t>    fill(240);</a:t>
            </a:r>
          </a:p>
          <a:p>
            <a:r>
              <a:rPr lang="en-US" dirty="0"/>
              <a:t>    </a:t>
            </a:r>
            <a:r>
              <a:rPr lang="en-US" dirty="0" err="1"/>
              <a:t>rect</a:t>
            </a:r>
            <a:r>
              <a:rPr lang="en-US" dirty="0"/>
              <a:t>(x-0.5*d,y+14.6*d,1.5*d,2*d);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float sign(float v) {</a:t>
            </a:r>
          </a:p>
          <a:p>
            <a:r>
              <a:rPr lang="en-US" dirty="0"/>
              <a:t>    return v &lt; 0 ? -1 : 1;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F9F9C-0D87-F586-4C8D-C65B61888778}"/>
              </a:ext>
            </a:extLst>
          </p:cNvPr>
          <p:cNvSpPr txBox="1"/>
          <p:nvPr/>
        </p:nvSpPr>
        <p:spPr>
          <a:xfrm>
            <a:off x="8119452" y="477523"/>
            <a:ext cx="3630440" cy="13665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Pet {</a:t>
            </a:r>
          </a:p>
          <a:p>
            <a:r>
              <a:rPr lang="en-US" dirty="0"/>
              <a:t>  float x, y, d, </a:t>
            </a:r>
            <a:r>
              <a:rPr lang="en-US" dirty="0" err="1"/>
              <a:t>vx</a:t>
            </a:r>
            <a:r>
              <a:rPr lang="en-US" dirty="0"/>
              <a:t>, 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r>
              <a:rPr lang="en-US" dirty="0"/>
              <a:t>  int </a:t>
            </a:r>
            <a:r>
              <a:rPr lang="en-US" dirty="0" err="1"/>
              <a:t>cFlag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Pet(float </a:t>
            </a:r>
            <a:r>
              <a:rPr lang="en-US" dirty="0" err="1"/>
              <a:t>sx</a:t>
            </a:r>
            <a:r>
              <a:rPr lang="en-US" dirty="0"/>
              <a:t>, float </a:t>
            </a:r>
            <a:r>
              <a:rPr lang="en-US" dirty="0" err="1"/>
              <a:t>sy</a:t>
            </a:r>
            <a:r>
              <a:rPr lang="en-US" dirty="0"/>
              <a:t>, float </a:t>
            </a:r>
            <a:r>
              <a:rPr lang="en-US" dirty="0" err="1"/>
              <a:t>sd</a:t>
            </a:r>
            <a:r>
              <a:rPr lang="en-US" dirty="0"/>
              <a:t>, float </a:t>
            </a:r>
            <a:r>
              <a:rPr lang="en-US" dirty="0" err="1"/>
              <a:t>svx</a:t>
            </a:r>
            <a:r>
              <a:rPr lang="en-US" dirty="0"/>
              <a:t>, float </a:t>
            </a:r>
            <a:r>
              <a:rPr lang="en-US" dirty="0" err="1"/>
              <a:t>svy</a:t>
            </a:r>
            <a:r>
              <a:rPr lang="en-US" dirty="0"/>
              <a:t>, int </a:t>
            </a:r>
            <a:r>
              <a:rPr lang="en-US" dirty="0" err="1"/>
              <a:t>sc</a:t>
            </a:r>
            <a:r>
              <a:rPr lang="en-US" dirty="0"/>
              <a:t>) {</a:t>
            </a:r>
          </a:p>
          <a:p>
            <a:r>
              <a:rPr lang="en-US" dirty="0"/>
              <a:t>    x = </a:t>
            </a:r>
            <a:r>
              <a:rPr lang="en-US" dirty="0" err="1"/>
              <a:t>sx</a:t>
            </a:r>
            <a:r>
              <a:rPr lang="en-US" dirty="0"/>
              <a:t>; y = </a:t>
            </a:r>
            <a:r>
              <a:rPr lang="en-US" dirty="0" err="1"/>
              <a:t>sy</a:t>
            </a:r>
            <a:r>
              <a:rPr lang="en-US" dirty="0"/>
              <a:t>; d = </a:t>
            </a:r>
            <a:r>
              <a:rPr lang="en-US" dirty="0" err="1"/>
              <a:t>sd</a:t>
            </a:r>
            <a:r>
              <a:rPr lang="en-US" dirty="0"/>
              <a:t>; </a:t>
            </a:r>
            <a:r>
              <a:rPr lang="en-US" dirty="0" err="1"/>
              <a:t>vx</a:t>
            </a:r>
            <a:r>
              <a:rPr lang="en-US" dirty="0"/>
              <a:t> = </a:t>
            </a:r>
            <a:r>
              <a:rPr lang="en-US" dirty="0" err="1"/>
              <a:t>svx</a:t>
            </a:r>
            <a:r>
              <a:rPr lang="en-US" dirty="0"/>
              <a:t>; </a:t>
            </a:r>
            <a:r>
              <a:rPr lang="en-US" dirty="0" err="1"/>
              <a:t>vy</a:t>
            </a:r>
            <a:r>
              <a:rPr lang="en-US" dirty="0"/>
              <a:t> = </a:t>
            </a:r>
            <a:r>
              <a:rPr lang="en-US" dirty="0" err="1"/>
              <a:t>svy</a:t>
            </a:r>
            <a:r>
              <a:rPr lang="en-US" dirty="0"/>
              <a:t>; </a:t>
            </a:r>
            <a:r>
              <a:rPr lang="en-US" dirty="0" err="1"/>
              <a:t>cFlag</a:t>
            </a:r>
            <a:r>
              <a:rPr lang="en-US" dirty="0"/>
              <a:t> = </a:t>
            </a:r>
            <a:r>
              <a:rPr lang="en-US" dirty="0" err="1"/>
              <a:t>sc</a:t>
            </a:r>
            <a:r>
              <a:rPr lang="en-US" dirty="0"/>
              <a:t>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void move() {</a:t>
            </a:r>
          </a:p>
          <a:p>
            <a:r>
              <a:rPr lang="en-US" dirty="0"/>
              <a:t>    if (x &gt; width - 50 || x &lt; 50) {</a:t>
            </a:r>
          </a:p>
          <a:p>
            <a:r>
              <a:rPr lang="en-US" dirty="0"/>
              <a:t>      </a:t>
            </a:r>
            <a:r>
              <a:rPr lang="en-US" dirty="0" err="1"/>
              <a:t>vx</a:t>
            </a:r>
            <a:r>
              <a:rPr lang="en-US" dirty="0"/>
              <a:t> = -</a:t>
            </a:r>
            <a:r>
              <a:rPr lang="en-US" dirty="0" err="1"/>
              <a:t>vx</a:t>
            </a:r>
            <a:r>
              <a:rPr lang="en-US" dirty="0"/>
              <a:t>;</a:t>
            </a:r>
          </a:p>
          <a:p>
            <a:r>
              <a:rPr lang="en-US" dirty="0"/>
              <a:t>      </a:t>
            </a:r>
            <a:r>
              <a:rPr lang="en-US" dirty="0" err="1"/>
              <a:t>cFlag</a:t>
            </a:r>
            <a:r>
              <a:rPr lang="en-US" dirty="0"/>
              <a:t> = int(random(2));</a:t>
            </a:r>
          </a:p>
          <a:p>
            <a:r>
              <a:rPr lang="en-US" dirty="0"/>
              <a:t>      </a:t>
            </a:r>
            <a:r>
              <a:rPr lang="en-US" dirty="0" err="1"/>
              <a:t>vx</a:t>
            </a:r>
            <a:r>
              <a:rPr lang="en-US" dirty="0"/>
              <a:t> *= random(0.8, 1.3);</a:t>
            </a:r>
          </a:p>
          <a:p>
            <a:r>
              <a:rPr lang="en-US" dirty="0"/>
              <a:t>      if (abs(</a:t>
            </a:r>
            <a:r>
              <a:rPr lang="en-US" dirty="0" err="1"/>
              <a:t>vx</a:t>
            </a:r>
            <a:r>
              <a:rPr lang="en-US" dirty="0"/>
              <a:t>) &lt; SPEED_MIN) </a:t>
            </a:r>
            <a:r>
              <a:rPr lang="en-US" dirty="0" err="1"/>
              <a:t>vx</a:t>
            </a:r>
            <a:r>
              <a:rPr lang="en-US" dirty="0"/>
              <a:t> = SPEED_MIN * sign(</a:t>
            </a:r>
            <a:r>
              <a:rPr lang="en-US" dirty="0" err="1"/>
              <a:t>vx</a:t>
            </a:r>
            <a:r>
              <a:rPr lang="en-US" dirty="0"/>
              <a:t>);</a:t>
            </a:r>
          </a:p>
          <a:p>
            <a:r>
              <a:rPr lang="en-US" dirty="0"/>
              <a:t>      if (abs(</a:t>
            </a:r>
            <a:r>
              <a:rPr lang="en-US" dirty="0" err="1"/>
              <a:t>vx</a:t>
            </a:r>
            <a:r>
              <a:rPr lang="en-US" dirty="0"/>
              <a:t>) &gt; SPEED_MAX) </a:t>
            </a:r>
            <a:r>
              <a:rPr lang="en-US" dirty="0" err="1"/>
              <a:t>vx</a:t>
            </a:r>
            <a:r>
              <a:rPr lang="en-US" dirty="0"/>
              <a:t> = SPEED_MAX * sign(</a:t>
            </a:r>
            <a:r>
              <a:rPr lang="en-US" dirty="0" err="1"/>
              <a:t>vx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if (y &gt; height - 50 || y &lt; 50) {</a:t>
            </a:r>
          </a:p>
          <a:p>
            <a:r>
              <a:rPr lang="en-US" dirty="0"/>
              <a:t>      </a:t>
            </a:r>
            <a:r>
              <a:rPr lang="en-US" dirty="0" err="1"/>
              <a:t>vy</a:t>
            </a:r>
            <a:r>
              <a:rPr lang="en-US" dirty="0"/>
              <a:t> = -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r>
              <a:rPr lang="en-US" dirty="0"/>
              <a:t>      d *= 0.9;</a:t>
            </a:r>
          </a:p>
          <a:p>
            <a:r>
              <a:rPr lang="en-US" dirty="0"/>
              <a:t>      </a:t>
            </a:r>
            <a:r>
              <a:rPr lang="en-US" dirty="0" err="1"/>
              <a:t>cFlag</a:t>
            </a:r>
            <a:r>
              <a:rPr lang="en-US" dirty="0"/>
              <a:t> = int(random(2));</a:t>
            </a:r>
          </a:p>
          <a:p>
            <a:r>
              <a:rPr lang="en-US" dirty="0"/>
              <a:t>      </a:t>
            </a:r>
            <a:r>
              <a:rPr lang="en-US" dirty="0" err="1"/>
              <a:t>vy</a:t>
            </a:r>
            <a:r>
              <a:rPr lang="en-US" dirty="0"/>
              <a:t> *= random(0.8, 1.3);</a:t>
            </a:r>
          </a:p>
          <a:p>
            <a:r>
              <a:rPr lang="en-US" dirty="0"/>
              <a:t>      if (abs(</a:t>
            </a:r>
            <a:r>
              <a:rPr lang="en-US" dirty="0" err="1"/>
              <a:t>vy</a:t>
            </a:r>
            <a:r>
              <a:rPr lang="en-US" dirty="0"/>
              <a:t>) &lt; SPEED_MIN) </a:t>
            </a:r>
            <a:r>
              <a:rPr lang="en-US" dirty="0" err="1"/>
              <a:t>vy</a:t>
            </a:r>
            <a:r>
              <a:rPr lang="en-US" dirty="0"/>
              <a:t> = SPEED_MIN * sign(</a:t>
            </a:r>
            <a:r>
              <a:rPr lang="en-US" dirty="0" err="1"/>
              <a:t>vy</a:t>
            </a:r>
            <a:r>
              <a:rPr lang="en-US" dirty="0"/>
              <a:t>);</a:t>
            </a:r>
          </a:p>
          <a:p>
            <a:r>
              <a:rPr lang="en-US" dirty="0"/>
              <a:t>      if (abs(</a:t>
            </a:r>
            <a:r>
              <a:rPr lang="en-US" dirty="0" err="1"/>
              <a:t>vy</a:t>
            </a:r>
            <a:r>
              <a:rPr lang="en-US" dirty="0"/>
              <a:t>) &gt; SPEED_MAX) </a:t>
            </a:r>
            <a:r>
              <a:rPr lang="en-US" dirty="0" err="1"/>
              <a:t>vy</a:t>
            </a:r>
            <a:r>
              <a:rPr lang="en-US" dirty="0"/>
              <a:t> = SPEED_MAX * sign(</a:t>
            </a:r>
            <a:r>
              <a:rPr lang="en-US" dirty="0" err="1"/>
              <a:t>vy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x += </a:t>
            </a:r>
            <a:r>
              <a:rPr lang="en-US" dirty="0" err="1"/>
              <a:t>vx</a:t>
            </a:r>
            <a:r>
              <a:rPr lang="en-US" dirty="0"/>
              <a:t>;</a:t>
            </a:r>
          </a:p>
          <a:p>
            <a:r>
              <a:rPr lang="en-US" dirty="0"/>
              <a:t>    y += </a:t>
            </a:r>
            <a:r>
              <a:rPr lang="en-US" dirty="0" err="1"/>
              <a:t>vy</a:t>
            </a:r>
            <a:r>
              <a:rPr lang="en-US" dirty="0"/>
              <a:t>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void show() {</a:t>
            </a:r>
          </a:p>
          <a:p>
            <a:r>
              <a:rPr lang="en-US" dirty="0"/>
              <a:t>    if (</a:t>
            </a:r>
            <a:r>
              <a:rPr lang="en-US" dirty="0" err="1"/>
              <a:t>cFlag</a:t>
            </a:r>
            <a:r>
              <a:rPr lang="en-US" dirty="0"/>
              <a:t> == 0) fill(255,255,0);</a:t>
            </a:r>
          </a:p>
          <a:p>
            <a:r>
              <a:rPr lang="en-US" dirty="0"/>
              <a:t>    else fill(255,0,255);</a:t>
            </a:r>
          </a:p>
          <a:p>
            <a:r>
              <a:rPr lang="en-US" dirty="0"/>
              <a:t>    circle(</a:t>
            </a:r>
            <a:r>
              <a:rPr lang="en-US" dirty="0" err="1"/>
              <a:t>x,y,d</a:t>
            </a:r>
            <a:r>
              <a:rPr lang="en-US" dirty="0"/>
              <a:t>*10);</a:t>
            </a:r>
          </a:p>
          <a:p>
            <a:r>
              <a:rPr lang="en-US" dirty="0"/>
              <a:t>    ellipse(</a:t>
            </a:r>
            <a:r>
              <a:rPr lang="en-US" dirty="0" err="1"/>
              <a:t>x,y+d,d</a:t>
            </a:r>
            <a:r>
              <a:rPr lang="en-US" dirty="0"/>
              <a:t>*5,d*4);</a:t>
            </a:r>
          </a:p>
          <a:p>
            <a:r>
              <a:rPr lang="en-US" dirty="0"/>
              <a:t>    fill(0);</a:t>
            </a:r>
          </a:p>
          <a:p>
            <a:r>
              <a:rPr lang="en-US" dirty="0"/>
              <a:t>    ellipse(x,y-0.5*</a:t>
            </a:r>
            <a:r>
              <a:rPr lang="en-US" dirty="0" err="1"/>
              <a:t>d,d</a:t>
            </a:r>
            <a:r>
              <a:rPr lang="en-US" dirty="0"/>
              <a:t>*2,d);</a:t>
            </a:r>
          </a:p>
          <a:p>
            <a:r>
              <a:rPr lang="en-US" dirty="0"/>
              <a:t>    circle(</a:t>
            </a:r>
            <a:r>
              <a:rPr lang="en-US" dirty="0" err="1"/>
              <a:t>x+d</a:t>
            </a:r>
            <a:r>
              <a:rPr lang="en-US" dirty="0"/>
              <a:t>*2,y-d*2,0.5*d);</a:t>
            </a:r>
          </a:p>
          <a:p>
            <a:r>
              <a:rPr lang="en-US" dirty="0"/>
              <a:t>    circle(x-d*2,y-d*2,0.5*d);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float sign(float v) {</a:t>
            </a:r>
          </a:p>
          <a:p>
            <a:r>
              <a:rPr lang="en-US" dirty="0"/>
              <a:t>    return v &lt; 0 ? -1 : 1;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6664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ndicam 2025-10-18 14-14-27-125">
            <a:hlinkClick r:id="" action="ppaction://media"/>
            <a:extLst>
              <a:ext uri="{FF2B5EF4-FFF2-40B4-BE49-F238E27FC236}">
                <a16:creationId xmlns:a16="http://schemas.microsoft.com/office/drawing/2014/main" id="{3F6FE347-C489-5E15-B98A-17E090AA9E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32457" y="504686"/>
            <a:ext cx="656476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5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9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6A7E-FDE2-7D7A-D7AC-67168DA8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All source code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94EBD1-97E3-0FEB-92DF-B85CBA9B69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35675" y="3056100"/>
            <a:ext cx="628248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uploaded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https://github.com/brevno-project/Java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776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5137</Words>
  <Application>Microsoft Office PowerPoint</Application>
  <PresentationFormat>Widescreen</PresentationFormat>
  <Paragraphs>676</Paragraphs>
  <Slides>20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Microsoft GothicNeo</vt:lpstr>
      <vt:lpstr>Aptos</vt:lpstr>
      <vt:lpstr>Aptos Display</vt:lpstr>
      <vt:lpstr>Arial</vt:lpstr>
      <vt:lpstr>Arial Unicode MS</vt:lpstr>
      <vt:lpstr>Office 테마</vt:lpstr>
      <vt:lpstr>HW 4: OOP version</vt:lpstr>
      <vt:lpstr>PowerPoint Presentation</vt:lpstr>
      <vt:lpstr>PowerPoint Presentation</vt:lpstr>
      <vt:lpstr>PowerPoint Presentation</vt:lpstr>
      <vt:lpstr>PowerPoint Presentation</vt:lpstr>
      <vt:lpstr>Sprint 2</vt:lpstr>
      <vt:lpstr>PowerPoint Presentation</vt:lpstr>
      <vt:lpstr>PowerPoint Presentation</vt:lpstr>
      <vt:lpstr>Sprint 3</vt:lpstr>
      <vt:lpstr>PowerPoint Presentation</vt:lpstr>
      <vt:lpstr>PowerPoint Presentation</vt:lpstr>
      <vt:lpstr>Sprint 4</vt:lpstr>
      <vt:lpstr>PowerPoint Presentation</vt:lpstr>
      <vt:lpstr>PowerPoint Presentation</vt:lpstr>
      <vt:lpstr>Feeling (and question)</vt:lpstr>
      <vt:lpstr>Extra</vt:lpstr>
      <vt:lpstr>Sprint 5</vt:lpstr>
      <vt:lpstr>PowerPoint Presentation</vt:lpstr>
      <vt:lpstr>PowerPoint Presentation</vt:lpstr>
      <vt:lpstr>All source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서덕영</dc:creator>
  <cp:lastModifiedBy>Artem Andreevich</cp:lastModifiedBy>
  <cp:revision>8</cp:revision>
  <dcterms:created xsi:type="dcterms:W3CDTF">2025-10-14T00:24:50Z</dcterms:created>
  <dcterms:modified xsi:type="dcterms:W3CDTF">2025-11-02T13:42:49Z</dcterms:modified>
</cp:coreProperties>
</file>